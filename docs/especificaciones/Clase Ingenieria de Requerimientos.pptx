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7" r:id="rId3"/>
    <p:sldId id="260" r:id="rId4"/>
    <p:sldId id="273" r:id="rId5"/>
    <p:sldId id="350" r:id="rId6"/>
    <p:sldId id="352" r:id="rId7"/>
    <p:sldId id="368" r:id="rId8"/>
    <p:sldId id="369" r:id="rId9"/>
    <p:sldId id="370" r:id="rId10"/>
    <p:sldId id="371" r:id="rId11"/>
    <p:sldId id="372" r:id="rId12"/>
    <p:sldId id="373" r:id="rId13"/>
    <p:sldId id="374" r:id="rId14"/>
    <p:sldId id="375" r:id="rId15"/>
    <p:sldId id="376" r:id="rId16"/>
    <p:sldId id="377" r:id="rId17"/>
    <p:sldId id="379" r:id="rId18"/>
    <p:sldId id="380" r:id="rId19"/>
    <p:sldId id="382" r:id="rId20"/>
    <p:sldId id="383" r:id="rId22"/>
    <p:sldId id="384" r:id="rId23"/>
    <p:sldId id="385" r:id="rId24"/>
    <p:sldId id="387" r:id="rId25"/>
    <p:sldId id="388" r:id="rId26"/>
    <p:sldId id="389" r:id="rId27"/>
    <p:sldId id="390" r:id="rId28"/>
    <p:sldId id="391" r:id="rId29"/>
    <p:sldId id="392" r:id="rId30"/>
    <p:sldId id="393" r:id="rId31"/>
    <p:sldId id="394" r:id="rId32"/>
    <p:sldId id="395" r:id="rId33"/>
    <p:sldId id="396" r:id="rId34"/>
    <p:sldId id="397" r:id="rId35"/>
    <p:sldId id="398" r:id="rId36"/>
    <p:sldId id="403" r:id="rId37"/>
    <p:sldId id="404" r:id="rId38"/>
    <p:sldId id="405" r:id="rId39"/>
    <p:sldId id="406" r:id="rId40"/>
    <p:sldId id="407" r:id="rId41"/>
    <p:sldId id="408" r:id="rId42"/>
    <p:sldId id="409" r:id="rId43"/>
    <p:sldId id="410" r:id="rId44"/>
    <p:sldId id="411" r:id="rId45"/>
    <p:sldId id="412" r:id="rId46"/>
    <p:sldId id="413" r:id="rId47"/>
    <p:sldId id="414" r:id="rId48"/>
    <p:sldId id="415" r:id="rId49"/>
    <p:sldId id="416" r:id="rId50"/>
    <p:sldId id="417" r:id="rId51"/>
    <p:sldId id="418" r:id="rId52"/>
    <p:sldId id="419" r:id="rId53"/>
    <p:sldId id="420" r:id="rId54"/>
    <p:sldId id="421" r:id="rId55"/>
    <p:sldId id="422" r:id="rId56"/>
    <p:sldId id="423" r:id="rId57"/>
    <p:sldId id="424" r:id="rId58"/>
    <p:sldId id="263"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5F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EB1D179-D23D-41D4-AEEF-E4B9FEB06903}" type="doc">
      <dgm:prSet loTypeId="urn:microsoft.com/office/officeart/2005/8/layout/process1" loCatId="process" qsTypeId="urn:microsoft.com/office/officeart/2005/8/quickstyle/simple1" qsCatId="simple" csTypeId="urn:microsoft.com/office/officeart/2005/8/colors/colorful4" csCatId="accent1" phldr="0"/>
      <dgm:spPr/>
    </dgm:pt>
    <dgm:pt modelId="{3F25DA44-7F3E-4C17-A40B-7F663FDBEA65}">
      <dgm:prSet phldrT="[Text]" phldr="0" custT="0"/>
      <dgm:spPr/>
      <dgm:t>
        <a:bodyPr vert="horz" wrap="square"/>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a:lnSpc>
              <a:spcPct val="100000"/>
            </a:lnSpc>
            <a:spcBef>
              <a:spcPct val="0"/>
            </a:spcBef>
            <a:spcAft>
              <a:spcPct val="35000"/>
            </a:spcAft>
          </a:pPr>
          <a:r>
            <a:rPr lang="es-AR" altLang="en-US"/>
            <a:t>Estudio de Viabilidad</a:t>
          </a:r>
          <a:r>
            <a:rPr lang="es-AR" altLang="en-US"/>
            <a:t/>
          </a:r>
          <a:endParaRPr lang="es-AR" altLang="en-US"/>
        </a:p>
      </dgm:t>
    </dgm:pt>
    <dgm:pt modelId="{EE9066D1-3403-4469-8E8C-0D40A82430F2}" cxnId="{3FEB1BFC-908F-49EC-9F5C-D33451128A15}" type="parTrans">
      <dgm:prSet/>
      <dgm:spPr/>
    </dgm:pt>
    <dgm:pt modelId="{8EC5AF5E-9C9F-410A-A755-A3EA5186F948}" cxnId="{3FEB1BFC-908F-49EC-9F5C-D33451128A15}" type="sibTrans">
      <dgm:prSet/>
      <dgm:spPr/>
      <dgm:t>
        <a:bodyPr/>
        <a:p>
          <a:endParaRPr lang="en-US"/>
        </a:p>
      </dgm:t>
    </dgm:pt>
    <dgm:pt modelId="{2E2F4D3A-969C-4DB2-9FA9-5C4A40369351}">
      <dgm:prSet phldrT="[Text]" phldr="0" custT="0"/>
      <dgm:spPr/>
      <dgm:t>
        <a:bodyPr vert="horz" wrap="square"/>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a:lnSpc>
              <a:spcPct val="100000"/>
            </a:lnSpc>
            <a:spcBef>
              <a:spcPct val="0"/>
            </a:spcBef>
            <a:spcAft>
              <a:spcPct val="35000"/>
            </a:spcAft>
          </a:pPr>
          <a:r>
            <a:rPr lang="es-AR" altLang="en-US"/>
            <a:t>Recogida de Requisitos</a:t>
          </a:r>
          <a:endParaRPr lang="es-AR" altLang="en-US"/>
        </a:p>
      </dgm:t>
    </dgm:pt>
    <dgm:pt modelId="{1E934BFE-4D40-486C-8784-F698A10C4CF5}" cxnId="{20EFB6FC-7F0A-4852-AF14-8B905C1A1002}" type="parTrans">
      <dgm:prSet/>
      <dgm:spPr/>
    </dgm:pt>
    <dgm:pt modelId="{EC1AFF77-9232-4EEB-95CB-85CEAB3B1FC0}" cxnId="{20EFB6FC-7F0A-4852-AF14-8B905C1A1002}" type="sibTrans">
      <dgm:prSet/>
      <dgm:spPr/>
      <dgm:t>
        <a:bodyPr/>
        <a:p>
          <a:endParaRPr lang="en-US"/>
        </a:p>
      </dgm:t>
    </dgm:pt>
    <dgm:pt modelId="{37B86CFA-59B5-46FA-8A6B-9FB187CE14DF}">
      <dgm:prSet phldrT="[Text]" phldr="0" custT="0"/>
      <dgm:spPr/>
      <dgm:t>
        <a:bodyPr vert="horz" wrap="square"/>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a:lnSpc>
              <a:spcPct val="100000"/>
            </a:lnSpc>
            <a:spcBef>
              <a:spcPct val="0"/>
            </a:spcBef>
            <a:spcAft>
              <a:spcPct val="35000"/>
            </a:spcAft>
          </a:pPr>
          <a:r>
            <a:rPr lang="es-AR" altLang="en-US"/>
            <a:t>Requisitos de Software</a:t>
          </a:r>
          <a:r>
            <a:rPr lang="es-AR" altLang="en-US"/>
            <a:t/>
          </a:r>
          <a:endParaRPr lang="es-AR" altLang="en-US"/>
        </a:p>
      </dgm:t>
    </dgm:pt>
    <dgm:pt modelId="{9DABF4F3-A9E6-40B1-A863-AC9409CC14BB}" cxnId="{0E93E4B7-D294-485B-8247-865DEE0DEA85}" type="parTrans">
      <dgm:prSet/>
      <dgm:spPr/>
    </dgm:pt>
    <dgm:pt modelId="{18EFF3C3-47F9-402B-A3F3-E9310EA281B4}" cxnId="{0E93E4B7-D294-485B-8247-865DEE0DEA85}" type="sibTrans">
      <dgm:prSet/>
      <dgm:spPr/>
    </dgm:pt>
    <dgm:pt modelId="{6D390BB6-933E-43C3-9E02-098BC022FDD4}">
      <dgm:prSet phldr="0" custT="0"/>
      <dgm:spPr/>
      <dgm:t>
        <a:bodyPr vert="horz" wrap="square"/>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a:lnSpc>
              <a:spcPct val="100000"/>
            </a:lnSpc>
            <a:spcBef>
              <a:spcPct val="0"/>
            </a:spcBef>
            <a:spcAft>
              <a:spcPct val="35000"/>
            </a:spcAft>
          </a:pPr>
          <a:r>
            <a:rPr lang="es-AR"/>
            <a:t>Validación de Requisitos</a:t>
          </a:r>
          <a:endParaRPr lang="es-AR"/>
        </a:p>
      </dgm:t>
    </dgm:pt>
    <dgm:pt modelId="{BC2638C0-A771-4D08-A8D4-9C082DCC16EF}" cxnId="{30F0611D-D446-4E23-9DFB-EEC2000DCD38}" type="parTrans">
      <dgm:prSet/>
      <dgm:spPr/>
    </dgm:pt>
    <dgm:pt modelId="{93A70885-B8C9-4FF6-9D72-1A968E5BE8AD}" cxnId="{30F0611D-D446-4E23-9DFB-EEC2000DCD38}" type="sibTrans">
      <dgm:prSet/>
      <dgm:spPr/>
    </dgm:pt>
    <dgm:pt modelId="{BF708676-7EFC-4C81-9D3A-3E677EAC1C7B}" type="pres">
      <dgm:prSet presAssocID="{8EB1D179-D23D-41D4-AEEF-E4B9FEB06903}" presName="Name0" presStyleCnt="0">
        <dgm:presLayoutVars>
          <dgm:dir/>
          <dgm:resizeHandles val="exact"/>
        </dgm:presLayoutVars>
      </dgm:prSet>
      <dgm:spPr/>
    </dgm:pt>
    <dgm:pt modelId="{111DEAC9-5D4C-4A6A-A44E-082A26F60596}" type="pres">
      <dgm:prSet presAssocID="{3F25DA44-7F3E-4C17-A40B-7F663FDBEA65}" presName="node" presStyleLbl="node1" presStyleIdx="0" presStyleCnt="4">
        <dgm:presLayoutVars>
          <dgm:bulletEnabled val="1"/>
        </dgm:presLayoutVars>
      </dgm:prSet>
      <dgm:spPr/>
    </dgm:pt>
    <dgm:pt modelId="{8A5CF0CE-3323-464D-9C63-05C1BDB053F5}" type="pres">
      <dgm:prSet presAssocID="{8EC5AF5E-9C9F-410A-A755-A3EA5186F948}" presName="sibTrans" presStyleLbl="sibTrans2D1" presStyleIdx="0" presStyleCnt="3"/>
      <dgm:spPr/>
    </dgm:pt>
    <dgm:pt modelId="{5FA465F6-7607-499F-BFB2-52F4E071FB67}" type="pres">
      <dgm:prSet presAssocID="{8EC5AF5E-9C9F-410A-A755-A3EA5186F948}" presName="connectorText" presStyleCnt="0"/>
      <dgm:spPr/>
    </dgm:pt>
    <dgm:pt modelId="{552FB8E7-A5FB-4CC3-94C3-CE0BDF19F9F1}" type="pres">
      <dgm:prSet presAssocID="{2E2F4D3A-969C-4DB2-9FA9-5C4A40369351}" presName="node" presStyleLbl="node1" presStyleIdx="1" presStyleCnt="4">
        <dgm:presLayoutVars>
          <dgm:bulletEnabled val="1"/>
        </dgm:presLayoutVars>
      </dgm:prSet>
      <dgm:spPr/>
    </dgm:pt>
    <dgm:pt modelId="{353C3794-50AA-4D44-83C9-CE28317C3317}" type="pres">
      <dgm:prSet presAssocID="{EC1AFF77-9232-4EEB-95CB-85CEAB3B1FC0}" presName="sibTrans" presStyleLbl="sibTrans2D1" presStyleIdx="1" presStyleCnt="3"/>
      <dgm:spPr/>
    </dgm:pt>
    <dgm:pt modelId="{5AFF040D-0639-4120-9E39-DA822CF9F321}" type="pres">
      <dgm:prSet presAssocID="{EC1AFF77-9232-4EEB-95CB-85CEAB3B1FC0}" presName="connectorText" presStyleCnt="0"/>
      <dgm:spPr/>
    </dgm:pt>
    <dgm:pt modelId="{A1E15D63-E1FF-4A28-A04F-A2B65927BC31}" type="pres">
      <dgm:prSet presAssocID="{37B86CFA-59B5-46FA-8A6B-9FB187CE14DF}" presName="node" presStyleLbl="node1" presStyleIdx="2" presStyleCnt="4">
        <dgm:presLayoutVars>
          <dgm:bulletEnabled val="1"/>
        </dgm:presLayoutVars>
      </dgm:prSet>
      <dgm:spPr/>
    </dgm:pt>
    <dgm:pt modelId="{8BA5569E-DCC0-4605-99E2-02FCDE9F609C}" type="pres">
      <dgm:prSet presAssocID="{18EFF3C3-47F9-402B-A3F3-E9310EA281B4}" presName="sibTrans" presStyleLbl="sibTrans2D1" presStyleIdx="2" presStyleCnt="3"/>
      <dgm:spPr/>
    </dgm:pt>
    <dgm:pt modelId="{C41E34C8-EDE7-439A-BB1A-4146099154F7}" type="pres">
      <dgm:prSet presAssocID="{18EFF3C3-47F9-402B-A3F3-E9310EA281B4}" presName="connectorText" presStyleCnt="0"/>
      <dgm:spPr/>
    </dgm:pt>
    <dgm:pt modelId="{F3670339-7040-4AA4-B715-B3CD67518C1A}" type="pres">
      <dgm:prSet presAssocID="{6D390BB6-933E-43C3-9E02-098BC022FDD4}" presName="node" presStyleLbl="node1" presStyleIdx="3" presStyleCnt="4">
        <dgm:presLayoutVars>
          <dgm:bulletEnabled val="1"/>
        </dgm:presLayoutVars>
      </dgm:prSet>
      <dgm:spPr/>
    </dgm:pt>
  </dgm:ptLst>
  <dgm:cxnLst>
    <dgm:cxn modelId="{3FEB1BFC-908F-49EC-9F5C-D33451128A15}" srcId="{8EB1D179-D23D-41D4-AEEF-E4B9FEB06903}" destId="{3F25DA44-7F3E-4C17-A40B-7F663FDBEA65}" srcOrd="0" destOrd="0" parTransId="{EE9066D1-3403-4469-8E8C-0D40A82430F2}" sibTransId="{8EC5AF5E-9C9F-410A-A755-A3EA5186F948}"/>
    <dgm:cxn modelId="{20EFB6FC-7F0A-4852-AF14-8B905C1A1002}" srcId="{8EB1D179-D23D-41D4-AEEF-E4B9FEB06903}" destId="{2E2F4D3A-969C-4DB2-9FA9-5C4A40369351}" srcOrd="1" destOrd="0" parTransId="{1E934BFE-4D40-486C-8784-F698A10C4CF5}" sibTransId="{EC1AFF77-9232-4EEB-95CB-85CEAB3B1FC0}"/>
    <dgm:cxn modelId="{0E93E4B7-D294-485B-8247-865DEE0DEA85}" srcId="{8EB1D179-D23D-41D4-AEEF-E4B9FEB06903}" destId="{37B86CFA-59B5-46FA-8A6B-9FB187CE14DF}" srcOrd="2" destOrd="0" parTransId="{9DABF4F3-A9E6-40B1-A863-AC9409CC14BB}" sibTransId="{18EFF3C3-47F9-402B-A3F3-E9310EA281B4}"/>
    <dgm:cxn modelId="{30F0611D-D446-4E23-9DFB-EEC2000DCD38}" srcId="{8EB1D179-D23D-41D4-AEEF-E4B9FEB06903}" destId="{6D390BB6-933E-43C3-9E02-098BC022FDD4}" srcOrd="3" destOrd="0" parTransId="{BC2638C0-A771-4D08-A8D4-9C082DCC16EF}" sibTransId="{93A70885-B8C9-4FF6-9D72-1A968E5BE8AD}"/>
    <dgm:cxn modelId="{B3254F24-8356-4E7D-8C3F-C52214FA9F1E}" type="presOf" srcId="{8EB1D179-D23D-41D4-AEEF-E4B9FEB06903}" destId="{BF708676-7EFC-4C81-9D3A-3E677EAC1C7B}" srcOrd="0" destOrd="0" presId="urn:microsoft.com/office/officeart/2005/8/layout/process1"/>
    <dgm:cxn modelId="{F0061094-F746-4341-B9B9-E6E989463F37}" type="presParOf" srcId="{BF708676-7EFC-4C81-9D3A-3E677EAC1C7B}" destId="{111DEAC9-5D4C-4A6A-A44E-082A26F60596}" srcOrd="0" destOrd="0" presId="urn:microsoft.com/office/officeart/2005/8/layout/process1"/>
    <dgm:cxn modelId="{2D3BA1E4-0AFA-4716-B91C-2AE49A46F866}" type="presOf" srcId="{3F25DA44-7F3E-4C17-A40B-7F663FDBEA65}" destId="{111DEAC9-5D4C-4A6A-A44E-082A26F60596}" srcOrd="0" destOrd="0" presId="urn:microsoft.com/office/officeart/2005/8/layout/process1"/>
    <dgm:cxn modelId="{A899DBEA-0C46-447B-9A64-CC07A9B418D6}" type="presParOf" srcId="{BF708676-7EFC-4C81-9D3A-3E677EAC1C7B}" destId="{8A5CF0CE-3323-464D-9C63-05C1BDB053F5}" srcOrd="1" destOrd="0" presId="urn:microsoft.com/office/officeart/2005/8/layout/process1"/>
    <dgm:cxn modelId="{52D1840C-8F73-4025-817B-2537271E03E8}" type="presOf" srcId="{8EC5AF5E-9C9F-410A-A755-A3EA5186F948}" destId="{8A5CF0CE-3323-464D-9C63-05C1BDB053F5}" srcOrd="0" destOrd="0" presId="urn:microsoft.com/office/officeart/2005/8/layout/process1"/>
    <dgm:cxn modelId="{732738F7-DC96-416B-B632-C619C80A5EF5}" type="presParOf" srcId="{8A5CF0CE-3323-464D-9C63-05C1BDB053F5}" destId="{5FA465F6-7607-499F-BFB2-52F4E071FB67}" srcOrd="0" destOrd="1" presId="urn:microsoft.com/office/officeart/2005/8/layout/process1"/>
    <dgm:cxn modelId="{66144762-9558-4DA3-8DBC-49A83C08B33E}" type="presOf" srcId="{8EC5AF5E-9C9F-410A-A755-A3EA5186F948}" destId="{5FA465F6-7607-499F-BFB2-52F4E071FB67}" srcOrd="1" destOrd="0" presId="urn:microsoft.com/office/officeart/2005/8/layout/process1"/>
    <dgm:cxn modelId="{0A73D98E-B87D-4A22-8724-00EBBEDEF6AD}" type="presParOf" srcId="{BF708676-7EFC-4C81-9D3A-3E677EAC1C7B}" destId="{552FB8E7-A5FB-4CC3-94C3-CE0BDF19F9F1}" srcOrd="2" destOrd="0" presId="urn:microsoft.com/office/officeart/2005/8/layout/process1"/>
    <dgm:cxn modelId="{5FF1DFC9-61EF-4686-B7BE-87E99469258F}" type="presOf" srcId="{2E2F4D3A-969C-4DB2-9FA9-5C4A40369351}" destId="{552FB8E7-A5FB-4CC3-94C3-CE0BDF19F9F1}" srcOrd="0" destOrd="0" presId="urn:microsoft.com/office/officeart/2005/8/layout/process1"/>
    <dgm:cxn modelId="{B18D0BDC-E575-4023-8BB4-072A1C126D95}" type="presParOf" srcId="{BF708676-7EFC-4C81-9D3A-3E677EAC1C7B}" destId="{353C3794-50AA-4D44-83C9-CE28317C3317}" srcOrd="3" destOrd="0" presId="urn:microsoft.com/office/officeart/2005/8/layout/process1"/>
    <dgm:cxn modelId="{39FF7FBC-C951-4D5A-9C85-7B8DA953CCA5}" type="presOf" srcId="{EC1AFF77-9232-4EEB-95CB-85CEAB3B1FC0}" destId="{353C3794-50AA-4D44-83C9-CE28317C3317}" srcOrd="0" destOrd="0" presId="urn:microsoft.com/office/officeart/2005/8/layout/process1"/>
    <dgm:cxn modelId="{5337B129-FE3C-4E7F-993C-FC0D9C110D01}" type="presParOf" srcId="{353C3794-50AA-4D44-83C9-CE28317C3317}" destId="{5AFF040D-0639-4120-9E39-DA822CF9F321}" srcOrd="0" destOrd="3" presId="urn:microsoft.com/office/officeart/2005/8/layout/process1"/>
    <dgm:cxn modelId="{226B16F3-D8D1-4847-A96A-EAA517A4877D}" type="presOf" srcId="{EC1AFF77-9232-4EEB-95CB-85CEAB3B1FC0}" destId="{5AFF040D-0639-4120-9E39-DA822CF9F321}" srcOrd="1" destOrd="0" presId="urn:microsoft.com/office/officeart/2005/8/layout/process1"/>
    <dgm:cxn modelId="{69E431A1-F1B2-4EA7-BE86-CF855F05098F}" type="presParOf" srcId="{BF708676-7EFC-4C81-9D3A-3E677EAC1C7B}" destId="{A1E15D63-E1FF-4A28-A04F-A2B65927BC31}" srcOrd="4" destOrd="0" presId="urn:microsoft.com/office/officeart/2005/8/layout/process1"/>
    <dgm:cxn modelId="{13D7DF35-B80D-46EE-8F3E-A9C7A84655D6}" type="presOf" srcId="{37B86CFA-59B5-46FA-8A6B-9FB187CE14DF}" destId="{A1E15D63-E1FF-4A28-A04F-A2B65927BC31}" srcOrd="0" destOrd="0" presId="urn:microsoft.com/office/officeart/2005/8/layout/process1"/>
    <dgm:cxn modelId="{9327E8AB-8A5C-408F-9BCD-403BCA8F282F}" type="presParOf" srcId="{BF708676-7EFC-4C81-9D3A-3E677EAC1C7B}" destId="{8BA5569E-DCC0-4605-99E2-02FCDE9F609C}" srcOrd="5" destOrd="0" presId="urn:microsoft.com/office/officeart/2005/8/layout/process1"/>
    <dgm:cxn modelId="{2D88DD04-E099-4668-BAA5-74C680F2954E}" type="presOf" srcId="{18EFF3C3-47F9-402B-A3F3-E9310EA281B4}" destId="{8BA5569E-DCC0-4605-99E2-02FCDE9F609C}" srcOrd="0" destOrd="0" presId="urn:microsoft.com/office/officeart/2005/8/layout/process1"/>
    <dgm:cxn modelId="{1A1ADA2E-134C-4E46-9E11-5D4D6D27E59B}" type="presParOf" srcId="{8BA5569E-DCC0-4605-99E2-02FCDE9F609C}" destId="{C41E34C8-EDE7-439A-BB1A-4146099154F7}" srcOrd="0" destOrd="5" presId="urn:microsoft.com/office/officeart/2005/8/layout/process1"/>
    <dgm:cxn modelId="{6A4BFD45-1D75-47B6-8164-AFEECB090827}" type="presOf" srcId="{18EFF3C3-47F9-402B-A3F3-E9310EA281B4}" destId="{C41E34C8-EDE7-439A-BB1A-4146099154F7}" srcOrd="1" destOrd="0" presId="urn:microsoft.com/office/officeart/2005/8/layout/process1"/>
    <dgm:cxn modelId="{D271C87A-B96A-417F-880E-124D2ADFBF20}" type="presParOf" srcId="{BF708676-7EFC-4C81-9D3A-3E677EAC1C7B}" destId="{F3670339-7040-4AA4-B715-B3CD67518C1A}" srcOrd="6" destOrd="0" presId="urn:microsoft.com/office/officeart/2005/8/layout/process1"/>
    <dgm:cxn modelId="{0F449132-2F96-4ED1-82BB-72527E79C6C1}" type="presOf" srcId="{6D390BB6-933E-43C3-9E02-098BC022FDD4}" destId="{F3670339-7040-4AA4-B715-B3CD67518C1A}"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238230" cy="5609590"/>
        <a:chOff x="0" y="0"/>
        <a:chExt cx="11238230" cy="5609590"/>
      </a:xfrm>
    </dsp:grpSpPr>
    <dsp:sp modelId="{111DEAC9-5D4C-4A6A-A44E-082A26F60596}">
      <dsp:nvSpPr>
        <dsp:cNvPr id="3" name="Rounded Rectangle 2"/>
        <dsp:cNvSpPr/>
      </dsp:nvSpPr>
      <dsp:spPr bwMode="white">
        <a:xfrm>
          <a:off x="0" y="2156436"/>
          <a:ext cx="2161198" cy="1296719"/>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s-AR" altLang="en-US"/>
            <a:t>Estudio de Viabilidad</a:t>
          </a:r>
          <a:endParaRPr lang="es-AR" altLang="en-US"/>
        </a:p>
      </dsp:txBody>
      <dsp:txXfrm>
        <a:off x="0" y="2156436"/>
        <a:ext cx="2161198" cy="1296719"/>
      </dsp:txXfrm>
    </dsp:sp>
    <dsp:sp modelId="{8A5CF0CE-3323-464D-9C63-05C1BDB053F5}">
      <dsp:nvSpPr>
        <dsp:cNvPr id="4" name="Right Arrow 3"/>
        <dsp:cNvSpPr/>
      </dsp:nvSpPr>
      <dsp:spPr bwMode="white">
        <a:xfrm>
          <a:off x="2364351" y="2536806"/>
          <a:ext cx="458174" cy="535977"/>
        </a:xfrm>
        <a:prstGeom prst="rightArrow">
          <a:avLst>
            <a:gd name="adj1" fmla="val 60000"/>
            <a:gd name="adj2" fmla="val 50000"/>
          </a:avLst>
        </a:prstGeom>
      </dsp:spPr>
      <dsp:style>
        <a:lnRef idx="0">
          <a:schemeClr val="lt1"/>
        </a:lnRef>
        <a:fillRef idx="1">
          <a:schemeClr val="accent4">
            <a:hueOff val="0"/>
            <a:satOff val="0"/>
            <a:lumOff val="0"/>
            <a:alpha val="100000"/>
          </a:schemeClr>
        </a:fillRef>
        <a:effectRef idx="0">
          <a:scrgbClr r="0" g="0" b="0"/>
        </a:effectRef>
        <a:fontRef idx="minor">
          <a:schemeClr val="lt1"/>
        </a:fontRef>
      </dsp:style>
      <dsp:txXfrm>
        <a:off x="2364351" y="2536806"/>
        <a:ext cx="458174" cy="535977"/>
      </dsp:txXfrm>
    </dsp:sp>
    <dsp:sp modelId="{552FB8E7-A5FB-4CC3-94C3-CE0BDF19F9F1}">
      <dsp:nvSpPr>
        <dsp:cNvPr id="6" name="Rounded Rectangle 5"/>
        <dsp:cNvSpPr/>
      </dsp:nvSpPr>
      <dsp:spPr bwMode="white">
        <a:xfrm>
          <a:off x="3025677" y="2156436"/>
          <a:ext cx="2161198" cy="1296719"/>
        </a:xfrm>
        <a:prstGeom prst="roundRect">
          <a:avLst>
            <a:gd name="adj" fmla="val 10000"/>
          </a:avLst>
        </a:prstGeom>
      </dsp:spPr>
      <dsp:style>
        <a:lnRef idx="2">
          <a:schemeClr val="lt1"/>
        </a:lnRef>
        <a:fillRef idx="1">
          <a:schemeClr val="accent4">
            <a:hueOff val="3460000"/>
            <a:satOff val="-15947"/>
            <a:lumOff val="523"/>
            <a:alpha val="100000"/>
          </a:schemeClr>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s-AR" altLang="en-US"/>
            <a:t>Recogida de Requisitos</a:t>
          </a:r>
          <a:endParaRPr lang="es-AR" altLang="en-US"/>
        </a:p>
      </dsp:txBody>
      <dsp:txXfrm>
        <a:off x="3025677" y="2156436"/>
        <a:ext cx="2161198" cy="1296719"/>
      </dsp:txXfrm>
    </dsp:sp>
    <dsp:sp modelId="{353C3794-50AA-4D44-83C9-CE28317C3317}">
      <dsp:nvSpPr>
        <dsp:cNvPr id="7" name="Right Arrow 6"/>
        <dsp:cNvSpPr/>
      </dsp:nvSpPr>
      <dsp:spPr bwMode="white">
        <a:xfrm>
          <a:off x="5390028" y="2536806"/>
          <a:ext cx="458174" cy="535977"/>
        </a:xfrm>
        <a:prstGeom prst="rightArrow">
          <a:avLst>
            <a:gd name="adj1" fmla="val 60000"/>
            <a:gd name="adj2" fmla="val 50000"/>
          </a:avLst>
        </a:prstGeom>
      </dsp:spPr>
      <dsp:style>
        <a:lnRef idx="0">
          <a:schemeClr val="lt1"/>
        </a:lnRef>
        <a:fillRef idx="1">
          <a:schemeClr val="accent4">
            <a:hueOff val="5190000"/>
            <a:satOff val="-23921"/>
            <a:lumOff val="784"/>
            <a:alpha val="100000"/>
          </a:schemeClr>
        </a:fillRef>
        <a:effectRef idx="0">
          <a:scrgbClr r="0" g="0" b="0"/>
        </a:effectRef>
        <a:fontRef idx="minor">
          <a:schemeClr val="lt1"/>
        </a:fontRef>
      </dsp:style>
      <dsp:txXfrm>
        <a:off x="5390028" y="2536806"/>
        <a:ext cx="458174" cy="535977"/>
      </dsp:txXfrm>
    </dsp:sp>
    <dsp:sp modelId="{A1E15D63-E1FF-4A28-A04F-A2B65927BC31}">
      <dsp:nvSpPr>
        <dsp:cNvPr id="9" name="Rounded Rectangle 8"/>
        <dsp:cNvSpPr/>
      </dsp:nvSpPr>
      <dsp:spPr bwMode="white">
        <a:xfrm>
          <a:off x="6051355" y="2156436"/>
          <a:ext cx="2161198" cy="1296719"/>
        </a:xfrm>
        <a:prstGeom prst="roundRect">
          <a:avLst>
            <a:gd name="adj" fmla="val 10000"/>
          </a:avLst>
        </a:prstGeom>
      </dsp:spPr>
      <dsp:style>
        <a:lnRef idx="2">
          <a:schemeClr val="lt1"/>
        </a:lnRef>
        <a:fillRef idx="1">
          <a:schemeClr val="accent4">
            <a:hueOff val="6920000"/>
            <a:satOff val="-31894"/>
            <a:lumOff val="1046"/>
            <a:alpha val="100000"/>
          </a:schemeClr>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s-AR" altLang="en-US"/>
            <a:t>Requisitos de Software</a:t>
          </a:r>
          <a:endParaRPr lang="es-AR" altLang="en-US"/>
        </a:p>
      </dsp:txBody>
      <dsp:txXfrm>
        <a:off x="6051355" y="2156436"/>
        <a:ext cx="2161198" cy="1296719"/>
      </dsp:txXfrm>
    </dsp:sp>
    <dsp:sp modelId="{8BA5569E-DCC0-4605-99E2-02FCDE9F609C}">
      <dsp:nvSpPr>
        <dsp:cNvPr id="10" name="Right Arrow 9"/>
        <dsp:cNvSpPr/>
      </dsp:nvSpPr>
      <dsp:spPr bwMode="white">
        <a:xfrm>
          <a:off x="8415705" y="2536806"/>
          <a:ext cx="458174" cy="535977"/>
        </a:xfrm>
        <a:prstGeom prst="rightArrow">
          <a:avLst>
            <a:gd name="adj1" fmla="val 60000"/>
            <a:gd name="adj2" fmla="val 50000"/>
          </a:avLst>
        </a:prstGeom>
      </dsp:spPr>
      <dsp:style>
        <a:lnRef idx="0">
          <a:schemeClr val="lt1"/>
        </a:lnRef>
        <a:fillRef idx="1">
          <a:schemeClr val="accent4">
            <a:hueOff val="10380000"/>
            <a:satOff val="-47842"/>
            <a:lumOff val="1569"/>
            <a:alpha val="100000"/>
          </a:schemeClr>
        </a:fillRef>
        <a:effectRef idx="0">
          <a:scrgbClr r="0" g="0" b="0"/>
        </a:effectRef>
        <a:fontRef idx="minor">
          <a:schemeClr val="lt1"/>
        </a:fontRef>
      </dsp:style>
      <dsp:txXfrm>
        <a:off x="8415705" y="2536806"/>
        <a:ext cx="458174" cy="535977"/>
      </dsp:txXfrm>
    </dsp:sp>
    <dsp:sp modelId="{F3670339-7040-4AA4-B715-B3CD67518C1A}">
      <dsp:nvSpPr>
        <dsp:cNvPr id="12" name="Rounded Rectangle 11"/>
        <dsp:cNvSpPr/>
      </dsp:nvSpPr>
      <dsp:spPr bwMode="white">
        <a:xfrm>
          <a:off x="9077032" y="2156436"/>
          <a:ext cx="2161198" cy="1296719"/>
        </a:xfrm>
        <a:prstGeom prst="roundRect">
          <a:avLst>
            <a:gd name="adj" fmla="val 10000"/>
          </a:avLst>
        </a:prstGeom>
      </dsp:spPr>
      <dsp:style>
        <a:lnRef idx="2">
          <a:schemeClr val="lt1"/>
        </a:lnRef>
        <a:fillRef idx="1">
          <a:schemeClr val="accent4">
            <a:hueOff val="10380000"/>
            <a:satOff val="-47842"/>
            <a:lumOff val="1569"/>
            <a:alpha val="100000"/>
          </a:schemeClr>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s-AR"/>
            <a:t>Validación de Requisitos</a:t>
          </a:r>
          <a:endParaRPr lang="es-AR"/>
        </a:p>
      </dsp:txBody>
      <dsp:txXfrm>
        <a:off x="9077032" y="2156436"/>
        <a:ext cx="2161198" cy="1296719"/>
      </dsp:txXfrm>
    </dsp:sp>
    <dsp:sp modelId="{5FA465F6-7607-499F-BFB2-52F4E071FB67}">
      <dsp:nvSpPr>
        <dsp:cNvPr id="5" name="Right Arrow 4"/>
        <dsp:cNvSpPr/>
      </dsp:nvSpPr>
      <dsp:spPr bwMode="white">
        <a:xfrm>
          <a:off x="2364351" y="2536806"/>
          <a:ext cx="458174" cy="535977"/>
        </a:xfrm>
        <a:prstGeom prst="rightArrow">
          <a:avLst>
            <a:gd name="adj1" fmla="val 60000"/>
            <a:gd name="adj2" fmla="val 50000"/>
          </a:avLst>
        </a:prstGeom>
        <a:noFill/>
        <a:ln>
          <a:noFill/>
        </a:ln>
      </dsp:spPr>
      <dsp:style>
        <a:lnRef idx="2">
          <a:schemeClr val="lt1"/>
        </a:lnRef>
        <a:fillRef idx="1">
          <a:schemeClr val="accent3"/>
        </a:fillRef>
        <a:effectRef idx="0">
          <a:scrgbClr r="0" g="0" b="0"/>
        </a:effectRef>
        <a:fontRef idx="minor">
          <a:schemeClr val="lt1"/>
        </a:fontRef>
      </dsp:style>
      <dsp:txBody>
        <a:bodyPr lIns="0" tIns="0" rIns="0" bIns="0" anchor="ctr"/>
        <a:lstStyle>
          <a:lvl1pPr algn="ctr">
            <a:defRPr sz="5500"/>
          </a:lvl1pPr>
          <a:lvl2pPr marL="285750" indent="-285750" algn="ctr">
            <a:defRPr sz="4200"/>
          </a:lvl2pPr>
          <a:lvl3pPr marL="571500" indent="-285750" algn="ctr">
            <a:defRPr sz="4200"/>
          </a:lvl3pPr>
          <a:lvl4pPr marL="857250" indent="-285750" algn="ctr">
            <a:defRPr sz="4200"/>
          </a:lvl4pPr>
          <a:lvl5pPr marL="1143000" indent="-285750" algn="ctr">
            <a:defRPr sz="4200"/>
          </a:lvl5pPr>
          <a:lvl6pPr marL="1428750" indent="-285750" algn="ctr">
            <a:defRPr sz="4200"/>
          </a:lvl6pPr>
          <a:lvl7pPr marL="1714500" indent="-285750" algn="ctr">
            <a:defRPr sz="4200"/>
          </a:lvl7pPr>
          <a:lvl8pPr marL="2000250" indent="-285750" algn="ctr">
            <a:defRPr sz="4200"/>
          </a:lvl8pPr>
          <a:lvl9pPr marL="2286000" indent="-285750" algn="ctr">
            <a:defRPr sz="4200"/>
          </a:lvl9pPr>
        </a:lstStyle>
        <a:p>
          <a:pPr lvl="0">
            <a:lnSpc>
              <a:spcPct val="100000"/>
            </a:lnSpc>
            <a:spcBef>
              <a:spcPct val="0"/>
            </a:spcBef>
            <a:spcAft>
              <a:spcPct val="35000"/>
            </a:spcAft>
          </a:pPr>
          <a:endParaRPr lang="en-US"/>
        </a:p>
      </dsp:txBody>
      <dsp:txXfrm>
        <a:off x="2364351" y="2536806"/>
        <a:ext cx="458174" cy="535977"/>
      </dsp:txXfrm>
    </dsp:sp>
    <dsp:sp modelId="{5AFF040D-0639-4120-9E39-DA822CF9F321}">
      <dsp:nvSpPr>
        <dsp:cNvPr id="8" name="Right Arrow 7"/>
        <dsp:cNvSpPr/>
      </dsp:nvSpPr>
      <dsp:spPr bwMode="white">
        <a:xfrm>
          <a:off x="5390028" y="2536806"/>
          <a:ext cx="458174" cy="535977"/>
        </a:xfrm>
        <a:prstGeom prst="rightArrow">
          <a:avLst>
            <a:gd name="adj1" fmla="val 60000"/>
            <a:gd name="adj2" fmla="val 50000"/>
          </a:avLst>
        </a:prstGeom>
        <a:noFill/>
        <a:ln>
          <a:noFill/>
        </a:ln>
      </dsp:spPr>
      <dsp:style>
        <a:lnRef idx="2">
          <a:schemeClr val="lt1"/>
        </a:lnRef>
        <a:fillRef idx="1">
          <a:schemeClr val="accent3"/>
        </a:fillRef>
        <a:effectRef idx="0">
          <a:scrgbClr r="0" g="0" b="0"/>
        </a:effectRef>
        <a:fontRef idx="minor">
          <a:schemeClr val="lt1"/>
        </a:fontRef>
      </dsp:style>
      <dsp:txBody>
        <a:bodyPr lIns="0" tIns="0" rIns="0" bIns="0" anchor="ctr"/>
        <a:lstStyle>
          <a:lvl1pPr algn="ctr">
            <a:defRPr sz="5500"/>
          </a:lvl1pPr>
          <a:lvl2pPr marL="285750" indent="-285750" algn="ctr">
            <a:defRPr sz="4200"/>
          </a:lvl2pPr>
          <a:lvl3pPr marL="571500" indent="-285750" algn="ctr">
            <a:defRPr sz="4200"/>
          </a:lvl3pPr>
          <a:lvl4pPr marL="857250" indent="-285750" algn="ctr">
            <a:defRPr sz="4200"/>
          </a:lvl4pPr>
          <a:lvl5pPr marL="1143000" indent="-285750" algn="ctr">
            <a:defRPr sz="4200"/>
          </a:lvl5pPr>
          <a:lvl6pPr marL="1428750" indent="-285750" algn="ctr">
            <a:defRPr sz="4200"/>
          </a:lvl6pPr>
          <a:lvl7pPr marL="1714500" indent="-285750" algn="ctr">
            <a:defRPr sz="4200"/>
          </a:lvl7pPr>
          <a:lvl8pPr marL="2000250" indent="-285750" algn="ctr">
            <a:defRPr sz="4200"/>
          </a:lvl8pPr>
          <a:lvl9pPr marL="2286000" indent="-285750" algn="ctr">
            <a:defRPr sz="4200"/>
          </a:lvl9pPr>
        </a:lstStyle>
        <a:p>
          <a:pPr lvl="0">
            <a:lnSpc>
              <a:spcPct val="100000"/>
            </a:lnSpc>
            <a:spcBef>
              <a:spcPct val="0"/>
            </a:spcBef>
            <a:spcAft>
              <a:spcPct val="35000"/>
            </a:spcAft>
          </a:pPr>
          <a:endParaRPr lang="en-US"/>
        </a:p>
      </dsp:txBody>
      <dsp:txXfrm>
        <a:off x="5390028" y="2536806"/>
        <a:ext cx="458174" cy="535977"/>
      </dsp:txXfrm>
    </dsp:sp>
    <dsp:sp modelId="{C41E34C8-EDE7-439A-BB1A-4146099154F7}">
      <dsp:nvSpPr>
        <dsp:cNvPr id="11" name="Right Arrow 10"/>
        <dsp:cNvSpPr/>
      </dsp:nvSpPr>
      <dsp:spPr bwMode="white">
        <a:xfrm>
          <a:off x="8415705" y="2536806"/>
          <a:ext cx="458174" cy="535977"/>
        </a:xfrm>
        <a:prstGeom prst="rightArrow">
          <a:avLst>
            <a:gd name="adj1" fmla="val 60000"/>
            <a:gd name="adj2" fmla="val 50000"/>
          </a:avLst>
        </a:prstGeom>
        <a:noFill/>
        <a:ln>
          <a:noFill/>
        </a:ln>
      </dsp:spPr>
      <dsp:style>
        <a:lnRef idx="2">
          <a:schemeClr val="lt1"/>
        </a:lnRef>
        <a:fillRef idx="1">
          <a:schemeClr val="accent3"/>
        </a:fillRef>
        <a:effectRef idx="0">
          <a:scrgbClr r="0" g="0" b="0"/>
        </a:effectRef>
        <a:fontRef idx="minor">
          <a:schemeClr val="lt1"/>
        </a:fontRef>
      </dsp:style>
      <dsp:txBody>
        <a:bodyPr lIns="0" tIns="0" rIns="0" bIns="0" anchor="ctr"/>
        <a:lstStyle>
          <a:lvl1pPr algn="ctr">
            <a:defRPr sz="5500"/>
          </a:lvl1pPr>
          <a:lvl2pPr marL="285750" indent="-285750" algn="ctr">
            <a:defRPr sz="4200"/>
          </a:lvl2pPr>
          <a:lvl3pPr marL="571500" indent="-285750" algn="ctr">
            <a:defRPr sz="4200"/>
          </a:lvl3pPr>
          <a:lvl4pPr marL="857250" indent="-285750" algn="ctr">
            <a:defRPr sz="4200"/>
          </a:lvl4pPr>
          <a:lvl5pPr marL="1143000" indent="-285750" algn="ctr">
            <a:defRPr sz="4200"/>
          </a:lvl5pPr>
          <a:lvl6pPr marL="1428750" indent="-285750" algn="ctr">
            <a:defRPr sz="4200"/>
          </a:lvl6pPr>
          <a:lvl7pPr marL="1714500" indent="-285750" algn="ctr">
            <a:defRPr sz="4200"/>
          </a:lvl7pPr>
          <a:lvl8pPr marL="2000250" indent="-285750" algn="ctr">
            <a:defRPr sz="4200"/>
          </a:lvl8pPr>
          <a:lvl9pPr marL="2286000" indent="-285750" algn="ctr">
            <a:defRPr sz="4200"/>
          </a:lvl9pPr>
        </a:lstStyle>
        <a:p>
          <a:pPr lvl="0">
            <a:lnSpc>
              <a:spcPct val="100000"/>
            </a:lnSpc>
            <a:spcBef>
              <a:spcPct val="0"/>
            </a:spcBef>
            <a:spcAft>
              <a:spcPct val="35000"/>
            </a:spcAft>
          </a:pPr>
        </a:p>
      </dsp:txBody>
      <dsp:txXfrm>
        <a:off x="8415705" y="2536806"/>
        <a:ext cx="458174" cy="53597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s-AR" altLang="en-US"/>
              <a:t>URL Imagen: https://es.workmeter.com/blog/gesti%C3%B3n-de-proyectos-el-m%C3%A9todo-scrum</a:t>
            </a:r>
            <a:endParaRPr lang="es-A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3.png"/><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1" Type="http://schemas.openxmlformats.org/officeDocument/2006/relationships/slideLayout" Target="../slideLayouts/slideLayout4.xml"/><Relationship Id="rId10" Type="http://schemas.openxmlformats.org/officeDocument/2006/relationships/image" Target="../media/image6.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image" Target="../media/image12.png"/><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image" Target="../media/image1.jpeg"/><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4.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4.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xml"/><Relationship Id="rId2" Type="http://schemas.openxmlformats.org/officeDocument/2006/relationships/image" Target="../media/image20.png"/><Relationship Id="rId1" Type="http://schemas.openxmlformats.org/officeDocument/2006/relationships/image" Target="../media/image1.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image" Target="../media/image1.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4.xml"/><Relationship Id="rId2" Type="http://schemas.openxmlformats.org/officeDocument/2006/relationships/image" Target="../media/image22.png"/><Relationship Id="rId1" Type="http://schemas.openxmlformats.org/officeDocument/2006/relationships/image" Target="../media/image1.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1.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1.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vmlDrawing" Target="../drawings/vmlDrawing1.vml"/><Relationship Id="rId4" Type="http://schemas.openxmlformats.org/officeDocument/2006/relationships/slideLayout" Target="../slideLayouts/slideLayout4.xml"/><Relationship Id="rId3" Type="http://schemas.openxmlformats.org/officeDocument/2006/relationships/image" Target="../media/image24.wmf"/><Relationship Id="rId2" Type="http://schemas.openxmlformats.org/officeDocument/2006/relationships/oleObject" Target="../embeddings/oleObject1.bin"/><Relationship Id="rId1" Type="http://schemas.openxmlformats.org/officeDocument/2006/relationships/image" Target="../media/image1.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vmlDrawing" Target="../drawings/vmlDrawing2.vml"/><Relationship Id="rId4" Type="http://schemas.openxmlformats.org/officeDocument/2006/relationships/slideLayout" Target="../slideLayouts/slideLayout4.xml"/><Relationship Id="rId3" Type="http://schemas.openxmlformats.org/officeDocument/2006/relationships/image" Target="../media/image25.wmf"/><Relationship Id="rId2" Type="http://schemas.openxmlformats.org/officeDocument/2006/relationships/oleObject" Target="../embeddings/oleObject2.bin"/><Relationship Id="rId1" Type="http://schemas.openxmlformats.org/officeDocument/2006/relationships/image" Target="../media/image1.jpeg"/></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vmlDrawing" Target="../drawings/vmlDrawing3.vml"/><Relationship Id="rId4" Type="http://schemas.openxmlformats.org/officeDocument/2006/relationships/slideLayout" Target="../slideLayouts/slideLayout4.xml"/><Relationship Id="rId3" Type="http://schemas.openxmlformats.org/officeDocument/2006/relationships/image" Target="../media/image26.wmf"/><Relationship Id="rId2" Type="http://schemas.openxmlformats.org/officeDocument/2006/relationships/oleObject" Target="../embeddings/oleObject3.bin"/><Relationship Id="rId1" Type="http://schemas.openxmlformats.org/officeDocument/2006/relationships/image" Target="../media/image1.jpeg"/></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vmlDrawing" Target="../drawings/vmlDrawing4.vml"/><Relationship Id="rId4" Type="http://schemas.openxmlformats.org/officeDocument/2006/relationships/slideLayout" Target="../slideLayouts/slideLayout4.xml"/><Relationship Id="rId3" Type="http://schemas.openxmlformats.org/officeDocument/2006/relationships/image" Target="../media/image27.wmf"/><Relationship Id="rId2" Type="http://schemas.openxmlformats.org/officeDocument/2006/relationships/oleObject" Target="../embeddings/oleObject4.bin"/><Relationship Id="rId1" Type="http://schemas.openxmlformats.org/officeDocument/2006/relationships/image" Target="../media/image1.jpeg"/></Relationships>
</file>

<file path=ppt/slides/_rels/slide54.xml.rels><?xml version="1.0" encoding="UTF-8" standalone="yes"?>
<Relationships xmlns="http://schemas.openxmlformats.org/package/2006/relationships"><Relationship Id="rId9" Type="http://schemas.openxmlformats.org/officeDocument/2006/relationships/image" Target="../media/image2.svg"/><Relationship Id="rId8" Type="http://schemas.openxmlformats.org/officeDocument/2006/relationships/image" Target="../media/image30.png"/><Relationship Id="rId7" Type="http://schemas.openxmlformats.org/officeDocument/2006/relationships/hyperlink" Target="https://www.atlassian.com/es/software/confluence" TargetMode="External"/><Relationship Id="rId6" Type="http://schemas.openxmlformats.org/officeDocument/2006/relationships/image" Target="../media/image29.png"/><Relationship Id="rId5" Type="http://schemas.openxmlformats.org/officeDocument/2006/relationships/hyperlink" Target="https://www.redmine.org/" TargetMode="External"/><Relationship Id="rId4" Type="http://schemas.openxmlformats.org/officeDocument/2006/relationships/image" Target="../media/image1.svg"/><Relationship Id="rId3" Type="http://schemas.openxmlformats.org/officeDocument/2006/relationships/image" Target="../media/image28.png"/><Relationship Id="rId2" Type="http://schemas.openxmlformats.org/officeDocument/2006/relationships/hyperlink" Target="https://www.atlassian.com/es/software/jira" TargetMode="External"/><Relationship Id="rId14" Type="http://schemas.openxmlformats.org/officeDocument/2006/relationships/notesSlide" Target="../notesSlides/notesSlide37.xml"/><Relationship Id="rId13" Type="http://schemas.openxmlformats.org/officeDocument/2006/relationships/slideLayout" Target="../slideLayouts/slideLayout4.xml"/><Relationship Id="rId12" Type="http://schemas.openxmlformats.org/officeDocument/2006/relationships/image" Target="../media/image33.png"/><Relationship Id="rId11" Type="http://schemas.openxmlformats.org/officeDocument/2006/relationships/image" Target="../media/image32.png"/><Relationship Id="rId10" Type="http://schemas.openxmlformats.org/officeDocument/2006/relationships/image" Target="../media/image31.png"/><Relationship Id="rId1" Type="http://schemas.openxmlformats.org/officeDocument/2006/relationships/image" Target="../media/image1.jpeg"/></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4.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1.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80733"/>
            <a:ext cx="9144000" cy="2387600"/>
          </a:xfrm>
        </p:spPr>
        <p:txBody>
          <a:bodyPr/>
          <a:lstStyle/>
          <a:p>
            <a:r>
              <a:rPr lang="es-AR" altLang="en-US" sz="3600" b="1" dirty="0"/>
              <a:t>Universidad de la Cuenca del Plata</a:t>
            </a:r>
            <a:endParaRPr lang="es-AR" altLang="en-US" sz="3600" b="1" dirty="0"/>
          </a:p>
        </p:txBody>
      </p:sp>
      <p:sp>
        <p:nvSpPr>
          <p:cNvPr id="3" name="Subtitle 2"/>
          <p:cNvSpPr>
            <a:spLocks noGrp="1"/>
          </p:cNvSpPr>
          <p:nvPr>
            <p:ph type="subTitle" idx="1"/>
          </p:nvPr>
        </p:nvSpPr>
        <p:spPr>
          <a:xfrm>
            <a:off x="1524000" y="3168333"/>
            <a:ext cx="9144000" cy="1655762"/>
          </a:xfrm>
        </p:spPr>
        <p:txBody>
          <a:bodyPr>
            <a:normAutofit/>
          </a:bodyPr>
          <a:lstStyle/>
          <a:p>
            <a:r>
              <a:rPr lang="es-AR" altLang="en-US"/>
              <a:t>Ingeniería en Sistemas de Información</a:t>
            </a:r>
            <a:endParaRPr lang="es-AR" altLang="en-US"/>
          </a:p>
          <a:p>
            <a:r>
              <a:rPr lang="es-AR" altLang="en-US" b="1"/>
              <a:t>Proyecto Final de Grado</a:t>
            </a:r>
            <a:endParaRPr lang="es-AR" altLang="en-US" sz="2800"/>
          </a:p>
          <a:p>
            <a:r>
              <a:rPr lang="es-AR" altLang="en-US" sz="2000"/>
              <a:t>Materia de Quinto Nivel - Año 2020</a:t>
            </a:r>
            <a:endParaRPr lang="es-AR" altLang="en-US" sz="2000"/>
          </a:p>
        </p:txBody>
      </p:sp>
      <p:sp>
        <p:nvSpPr>
          <p:cNvPr id="4" name="Text Box 3"/>
          <p:cNvSpPr txBox="1"/>
          <p:nvPr/>
        </p:nvSpPr>
        <p:spPr>
          <a:xfrm>
            <a:off x="1753870" y="5323840"/>
            <a:ext cx="8766175" cy="829945"/>
          </a:xfrm>
          <a:prstGeom prst="rect">
            <a:avLst/>
          </a:prstGeom>
          <a:noFill/>
        </p:spPr>
        <p:txBody>
          <a:bodyPr wrap="square" rtlCol="0">
            <a:spAutoFit/>
          </a:bodyPr>
          <a:p>
            <a:pPr algn="l"/>
            <a:r>
              <a:rPr lang="es-AR" altLang="en-US" sz="2400" b="1"/>
              <a:t>Lic. César Zarrabeitia</a:t>
            </a:r>
            <a:endParaRPr lang="es-AR" altLang="en-US" sz="2400" b="1"/>
          </a:p>
          <a:p>
            <a:pPr algn="l"/>
            <a:r>
              <a:rPr lang="es-AR" altLang="en-US" sz="2400" b="1"/>
              <a:t>Ing. Fabio Maksimchuk</a:t>
            </a:r>
            <a:endParaRPr lang="es-AR" altLang="en-US" sz="2400" b="1"/>
          </a:p>
        </p:txBody>
      </p:sp>
      <p:pic>
        <p:nvPicPr>
          <p:cNvPr id="5" name="Picture 4" descr="UCP_Icon"/>
          <p:cNvPicPr>
            <a:picLocks noChangeAspect="1"/>
          </p:cNvPicPr>
          <p:nvPr/>
        </p:nvPicPr>
        <p:blipFill>
          <a:blip r:embed="rId1"/>
          <a:stretch>
            <a:fillRect/>
          </a:stretch>
        </p:blipFill>
        <p:spPr>
          <a:xfrm>
            <a:off x="5342890" y="781050"/>
            <a:ext cx="1506220" cy="1506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s-AR" altLang="en-US" sz="3600" b="1"/>
              <a:t>Clase 18/09</a:t>
            </a:r>
            <a:endParaRPr lang="es-AR" altLang="en-US" sz="3600" b="1"/>
          </a:p>
        </p:txBody>
      </p:sp>
      <p:sp>
        <p:nvSpPr>
          <p:cNvPr id="3" name="Content Placeholder 2"/>
          <p:cNvSpPr>
            <a:spLocks noGrp="1"/>
          </p:cNvSpPr>
          <p:nvPr>
            <p:ph sz="half" idx="1"/>
          </p:nvPr>
        </p:nvSpPr>
        <p:spPr>
          <a:xfrm>
            <a:off x="838200" y="1825625"/>
            <a:ext cx="10757535" cy="4351655"/>
          </a:xfrm>
        </p:spPr>
        <p:txBody>
          <a:bodyPr>
            <a:normAutofit/>
          </a:bodyPr>
          <a:p>
            <a:pPr algn="just"/>
            <a:endParaRPr lang="es-AR" altLang="en-US" sz="2400" b="1"/>
          </a:p>
          <a:p>
            <a:pPr algn="just"/>
            <a:endParaRPr lang="es-AR" altLang="en-US" sz="2400" b="1"/>
          </a:p>
          <a:p>
            <a:pPr algn="just"/>
            <a:endParaRPr lang="es-AR" altLang="en-US" sz="24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graphicFrame>
        <p:nvGraphicFramePr>
          <p:cNvPr id="5" name="Table 4"/>
          <p:cNvGraphicFramePr/>
          <p:nvPr/>
        </p:nvGraphicFramePr>
        <p:xfrm>
          <a:off x="978535" y="1445260"/>
          <a:ext cx="10701020" cy="4641850"/>
        </p:xfrm>
        <a:graphic>
          <a:graphicData uri="http://schemas.openxmlformats.org/drawingml/2006/table">
            <a:tbl>
              <a:tblPr firstRow="1" bandRow="1">
                <a:tableStyleId>{5C22544A-7EE6-4342-B048-85BDC9FD1C3A}</a:tableStyleId>
              </a:tblPr>
              <a:tblGrid>
                <a:gridCol w="4036695"/>
                <a:gridCol w="6664325"/>
              </a:tblGrid>
              <a:tr h="928370">
                <a:tc>
                  <a:txBody>
                    <a:bodyPr/>
                    <a:p>
                      <a:pPr>
                        <a:buNone/>
                      </a:pPr>
                      <a:r>
                        <a:rPr lang="es-AR" altLang="en-US" sz="2400" b="0">
                          <a:solidFill>
                            <a:schemeClr val="tx1"/>
                          </a:solidFill>
                        </a:rPr>
                        <a:t>17.30 - 18 hs</a:t>
                      </a:r>
                      <a:endParaRPr lang="es-AR" altLang="en-US" sz="2400" b="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s-AR" altLang="en-US" sz="2400" b="0">
                          <a:solidFill>
                            <a:schemeClr val="tx1"/>
                          </a:solidFill>
                        </a:rPr>
                        <a:t>Repaso clase anterior + revisión de avances</a:t>
                      </a:r>
                      <a:endParaRPr lang="es-AR" altLang="en-US" sz="2400" b="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928370">
                <a:tc>
                  <a:txBody>
                    <a:bodyPr/>
                    <a:p>
                      <a:pPr>
                        <a:buNone/>
                      </a:pPr>
                      <a:r>
                        <a:rPr lang="es-AR" altLang="en-US" sz="2400" b="1">
                          <a:solidFill>
                            <a:schemeClr val="tx1"/>
                          </a:solidFill>
                        </a:rPr>
                        <a:t>18 - 19 hs</a:t>
                      </a:r>
                      <a:endParaRPr lang="es-AR" altLang="en-US" sz="2400" b="1">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s-AR" altLang="en-US" sz="2400" b="1">
                          <a:solidFill>
                            <a:schemeClr val="tx1"/>
                          </a:solidFill>
                        </a:rPr>
                        <a:t>Ingeniería de Requerimientos</a:t>
                      </a:r>
                      <a:endParaRPr lang="es-AR" altLang="en-US" sz="2400" b="1">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928370">
                <a:tc>
                  <a:txBody>
                    <a:bodyPr/>
                    <a:p>
                      <a:pPr>
                        <a:buNone/>
                      </a:pPr>
                      <a:r>
                        <a:rPr lang="es-AR" altLang="en-US" sz="2400" b="0">
                          <a:solidFill>
                            <a:schemeClr val="tx1"/>
                          </a:solidFill>
                        </a:rPr>
                        <a:t>19 - 19.45 hs</a:t>
                      </a:r>
                      <a:endParaRPr lang="es-AR" altLang="en-US" sz="2400" b="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s-AR" altLang="en-US" sz="2400" b="0">
                          <a:solidFill>
                            <a:schemeClr val="tx1"/>
                          </a:solidFill>
                        </a:rPr>
                        <a:t>Actividad: Análisis de Requerimientos del Proyecto</a:t>
                      </a:r>
                      <a:endParaRPr lang="es-AR" altLang="en-US" sz="2400" b="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928370">
                <a:tc>
                  <a:txBody>
                    <a:bodyPr/>
                    <a:p>
                      <a:pPr>
                        <a:buNone/>
                      </a:pPr>
                      <a:r>
                        <a:rPr lang="es-AR" altLang="en-US" sz="2400" b="1">
                          <a:solidFill>
                            <a:schemeClr val="tx1"/>
                          </a:solidFill>
                        </a:rPr>
                        <a:t>19.45 - 20 hs</a:t>
                      </a:r>
                      <a:endParaRPr lang="es-AR" altLang="en-US" sz="2000" b="1">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s-AR" altLang="en-US" sz="2400" b="1">
                          <a:solidFill>
                            <a:schemeClr val="tx1"/>
                          </a:solidFill>
                        </a:rPr>
                        <a:t>break</a:t>
                      </a:r>
                      <a:endParaRPr lang="es-AR" altLang="en-US" sz="2400" b="1">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928370">
                <a:tc>
                  <a:txBody>
                    <a:bodyPr/>
                    <a:p>
                      <a:pPr>
                        <a:buNone/>
                      </a:pPr>
                      <a:r>
                        <a:rPr lang="es-AR" altLang="en-US" sz="2400" b="0">
                          <a:solidFill>
                            <a:schemeClr val="tx1"/>
                          </a:solidFill>
                        </a:rPr>
                        <a:t>20 - 20.40 hs</a:t>
                      </a:r>
                      <a:endParaRPr lang="es-AR" altLang="en-US" sz="2400" b="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s-AR" altLang="en-US" sz="2400" b="0" u="sng">
                          <a:solidFill>
                            <a:schemeClr val="tx1"/>
                          </a:solidFill>
                        </a:rPr>
                        <a:t>Tema:</a:t>
                      </a:r>
                      <a:r>
                        <a:rPr lang="es-AR" altLang="en-US" sz="2400" b="0">
                          <a:solidFill>
                            <a:schemeClr val="tx1"/>
                          </a:solidFill>
                        </a:rPr>
                        <a:t> Scrum y el Product Backlog</a:t>
                      </a:r>
                      <a:endParaRPr lang="es-AR" altLang="en-US" sz="2400" b="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8" name="Text Box 7"/>
          <p:cNvSpPr txBox="1"/>
          <p:nvPr/>
        </p:nvSpPr>
        <p:spPr>
          <a:xfrm>
            <a:off x="377825" y="3426460"/>
            <a:ext cx="11388090" cy="768350"/>
          </a:xfrm>
          <a:prstGeom prst="rect">
            <a:avLst/>
          </a:prstGeom>
          <a:noFill/>
        </p:spPr>
        <p:txBody>
          <a:bodyPr wrap="square" rtlCol="0">
            <a:spAutoFit/>
          </a:bodyPr>
          <a:p>
            <a:pPr algn="ctr"/>
            <a:r>
              <a:rPr lang="es-AR" altLang="en-US" sz="4400" b="1"/>
              <a:t>Repaso y Revisión de Avances del Proyecto Final</a:t>
            </a:r>
            <a:endParaRPr lang="es-AR" altLang="en-US" sz="4400" b="1"/>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8" name="Text Box 7"/>
          <p:cNvSpPr txBox="1"/>
          <p:nvPr/>
        </p:nvSpPr>
        <p:spPr>
          <a:xfrm>
            <a:off x="401955" y="3034665"/>
            <a:ext cx="11388090" cy="768350"/>
          </a:xfrm>
          <a:prstGeom prst="rect">
            <a:avLst/>
          </a:prstGeom>
          <a:noFill/>
        </p:spPr>
        <p:txBody>
          <a:bodyPr wrap="square" rtlCol="0">
            <a:spAutoFit/>
          </a:bodyPr>
          <a:p>
            <a:pPr algn="ctr">
              <a:buNone/>
            </a:pPr>
            <a:r>
              <a:rPr lang="es-AR" altLang="en-US" sz="4400" b="1">
                <a:sym typeface="+mn-ea"/>
              </a:rPr>
              <a:t>Ingeniería de Requerimientos</a:t>
            </a:r>
            <a:endParaRPr lang="es-AR" altLang="en-US" sz="4400" b="1"/>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365125"/>
            <a:ext cx="10515600" cy="1325563"/>
          </a:xfrm>
        </p:spPr>
        <p:txBody>
          <a:bodyPr/>
          <a:p>
            <a:r>
              <a:rPr lang="es-AR" altLang="en-US" sz="3600" b="1"/>
              <a:t>Ingeniería de Requerimientos de SI </a:t>
            </a:r>
            <a:endParaRPr lang="es-AR" altLang="en-US" sz="36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Text Box 6"/>
          <p:cNvSpPr txBox="1"/>
          <p:nvPr/>
        </p:nvSpPr>
        <p:spPr>
          <a:xfrm>
            <a:off x="838835" y="3376930"/>
            <a:ext cx="10669905" cy="3415030"/>
          </a:xfrm>
          <a:prstGeom prst="rect">
            <a:avLst/>
          </a:prstGeom>
          <a:noFill/>
        </p:spPr>
        <p:txBody>
          <a:bodyPr wrap="square" rtlCol="0">
            <a:spAutoFit/>
          </a:bodyPr>
          <a:p>
            <a:pPr indent="0" algn="just">
              <a:buFont typeface="Arial" panose="020B0604020202020204" pitchFamily="34" charset="0"/>
              <a:buNone/>
            </a:pPr>
            <a:endParaRPr lang="es-AR" altLang="en-US" sz="2400"/>
          </a:p>
          <a:p>
            <a:pPr indent="0" algn="just">
              <a:buFont typeface="Arial" panose="020B0604020202020204" pitchFamily="34" charset="0"/>
              <a:buNone/>
            </a:pPr>
            <a:r>
              <a:rPr lang="es-AR" altLang="en-US" sz="2400"/>
              <a:t>La </a:t>
            </a:r>
            <a:r>
              <a:rPr lang="es-AR" altLang="en-US" sz="2400" b="1"/>
              <a:t>Ingeniería de Requerimientos o Requisitos</a:t>
            </a:r>
            <a:r>
              <a:rPr lang="es-AR" altLang="en-US" sz="2400"/>
              <a:t> (usaremos el término indistintamente en esta instancia), es el </a:t>
            </a:r>
            <a:r>
              <a:rPr lang="es-AR" altLang="en-US" sz="2400" u="sng"/>
              <a:t>proceso de recogida de información, análisis y documentación sobre los requisitos de software del cliente</a:t>
            </a:r>
            <a:r>
              <a:rPr lang="es-AR" altLang="en-US" sz="2400"/>
              <a:t>.</a:t>
            </a:r>
            <a:endParaRPr lang="es-AR" altLang="en-US" sz="2400"/>
          </a:p>
          <a:p>
            <a:pPr indent="0" algn="just">
              <a:buFont typeface="Arial" panose="020B0604020202020204" pitchFamily="34" charset="0"/>
              <a:buNone/>
            </a:pPr>
            <a:endParaRPr lang="es-AR" altLang="en-US" sz="2400"/>
          </a:p>
          <a:p>
            <a:pPr indent="0" algn="just">
              <a:buFont typeface="Arial" panose="020B0604020202020204" pitchFamily="34" charset="0"/>
              <a:buNone/>
            </a:pPr>
            <a:r>
              <a:rPr lang="es-AR" altLang="en-US" sz="2400"/>
              <a:t>El objetivo es disponer de una lista de requerimientos a los cuales el sistema debe dar respuesta, para proceder a diseñar de que forma el mismo implementará sus funciones para dar la debida respuesta.</a:t>
            </a:r>
            <a:endParaRPr lang="es-AR" altLang="en-US" sz="2400"/>
          </a:p>
          <a:p>
            <a:pPr lvl="0" indent="-457200" algn="just">
              <a:buFont typeface="Arial" panose="020B0604020202020204" pitchFamily="34" charset="0"/>
              <a:buAutoNum type="arabicPeriod"/>
            </a:pPr>
            <a:endParaRPr lang="es-AR" altLang="en-US" sz="2400"/>
          </a:p>
        </p:txBody>
      </p:sp>
      <p:sp>
        <p:nvSpPr>
          <p:cNvPr id="6" name="Text Box 5"/>
          <p:cNvSpPr txBox="1"/>
          <p:nvPr/>
        </p:nvSpPr>
        <p:spPr>
          <a:xfrm>
            <a:off x="3070860" y="1691005"/>
            <a:ext cx="6051550" cy="829945"/>
          </a:xfrm>
          <a:prstGeom prst="rect">
            <a:avLst/>
          </a:prstGeom>
          <a:noFill/>
        </p:spPr>
        <p:txBody>
          <a:bodyPr wrap="square" rtlCol="0">
            <a:spAutoFit/>
          </a:bodyPr>
          <a:p>
            <a:pPr algn="ctr"/>
            <a:r>
              <a:rPr lang="es-AR" altLang="en-US" sz="4800" b="1"/>
              <a:t>Qué    -&gt;   Cómo</a:t>
            </a:r>
            <a:endParaRPr lang="es-AR" altLang="en-US" sz="4800" b="1"/>
          </a:p>
        </p:txBody>
      </p:sp>
      <p:sp>
        <p:nvSpPr>
          <p:cNvPr id="8" name="Text Box 7"/>
          <p:cNvSpPr txBox="1"/>
          <p:nvPr/>
        </p:nvSpPr>
        <p:spPr>
          <a:xfrm>
            <a:off x="3431540" y="2670175"/>
            <a:ext cx="2628900" cy="706755"/>
          </a:xfrm>
          <a:prstGeom prst="rect">
            <a:avLst/>
          </a:prstGeom>
          <a:noFill/>
        </p:spPr>
        <p:txBody>
          <a:bodyPr wrap="square" rtlCol="0">
            <a:spAutoFit/>
          </a:bodyPr>
          <a:p>
            <a:pPr algn="ctr"/>
            <a:r>
              <a:rPr lang="es-AR" altLang="en-US" sz="2000" b="1"/>
              <a:t>Requerimientos</a:t>
            </a:r>
            <a:endParaRPr lang="es-AR" altLang="en-US" sz="2000" b="1"/>
          </a:p>
          <a:p>
            <a:pPr algn="ctr"/>
            <a:r>
              <a:rPr lang="es-AR" altLang="en-US" sz="2000" b="1"/>
              <a:t>(Análisis de Sistemas)</a:t>
            </a:r>
            <a:endParaRPr lang="es-AR" altLang="en-US" sz="2000" b="1"/>
          </a:p>
        </p:txBody>
      </p:sp>
      <p:sp>
        <p:nvSpPr>
          <p:cNvPr id="9" name="Text Box 8"/>
          <p:cNvSpPr txBox="1"/>
          <p:nvPr/>
        </p:nvSpPr>
        <p:spPr>
          <a:xfrm>
            <a:off x="6270625" y="2670175"/>
            <a:ext cx="2628900" cy="706755"/>
          </a:xfrm>
          <a:prstGeom prst="rect">
            <a:avLst/>
          </a:prstGeom>
          <a:noFill/>
        </p:spPr>
        <p:txBody>
          <a:bodyPr wrap="square" rtlCol="0">
            <a:spAutoFit/>
          </a:bodyPr>
          <a:p>
            <a:pPr algn="ctr"/>
            <a:r>
              <a:rPr lang="es-AR" altLang="en-US" sz="2000" b="1"/>
              <a:t>Diseño</a:t>
            </a:r>
            <a:endParaRPr lang="es-AR" altLang="en-US" sz="2000" b="1"/>
          </a:p>
          <a:p>
            <a:pPr algn="ctr"/>
            <a:r>
              <a:rPr lang="es-AR" altLang="en-US" sz="2000" b="1"/>
              <a:t>(Diseño de Sistemas)</a:t>
            </a:r>
            <a:endParaRPr lang="es-AR" altLang="en-US" sz="2000" b="1"/>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365125"/>
            <a:ext cx="10515600" cy="1325563"/>
          </a:xfrm>
        </p:spPr>
        <p:txBody>
          <a:bodyPr/>
          <a:p>
            <a:r>
              <a:rPr lang="es-AR" altLang="en-US" sz="3600" b="1"/>
              <a:t>Ingeniería de Requerimientos de SI (Cont.)</a:t>
            </a:r>
            <a:endParaRPr lang="es-AR" altLang="en-US" sz="36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3" name="Rounded Rectangle 2"/>
          <p:cNvSpPr/>
          <p:nvPr/>
        </p:nvSpPr>
        <p:spPr>
          <a:xfrm>
            <a:off x="1080770" y="3198495"/>
            <a:ext cx="2072640" cy="75184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r>
              <a:rPr lang="es-AR" altLang="en-US"/>
              <a:t>Conceptos</a:t>
            </a:r>
            <a:endParaRPr lang="es-AR" altLang="en-US"/>
          </a:p>
        </p:txBody>
      </p:sp>
      <p:sp>
        <p:nvSpPr>
          <p:cNvPr id="5" name="Text Box 4"/>
          <p:cNvSpPr txBox="1"/>
          <p:nvPr/>
        </p:nvSpPr>
        <p:spPr>
          <a:xfrm>
            <a:off x="4514850" y="1691005"/>
            <a:ext cx="7386955" cy="4523105"/>
          </a:xfrm>
          <a:prstGeom prst="rect">
            <a:avLst/>
          </a:prstGeom>
          <a:noFill/>
        </p:spPr>
        <p:txBody>
          <a:bodyPr wrap="square" rtlCol="0">
            <a:spAutoFit/>
          </a:bodyPr>
          <a:p>
            <a:pPr marL="285750" indent="-285750">
              <a:buFont typeface="Arial" panose="020B0604020202020204" pitchFamily="34" charset="0"/>
              <a:buChar char="•"/>
            </a:pPr>
            <a:r>
              <a:rPr lang="es-AR" altLang="en-US" sz="3200"/>
              <a:t>Necesidad</a:t>
            </a:r>
            <a:endParaRPr lang="es-AR" altLang="en-US" sz="3200"/>
          </a:p>
          <a:p>
            <a:pPr marL="285750" indent="-285750">
              <a:buFont typeface="Arial" panose="020B0604020202020204" pitchFamily="34" charset="0"/>
              <a:buChar char="•"/>
            </a:pPr>
            <a:r>
              <a:rPr lang="es-AR" altLang="en-US" sz="3200"/>
              <a:t>Requerimiento</a:t>
            </a:r>
            <a:endParaRPr lang="es-AR" altLang="en-US" sz="3200"/>
          </a:p>
          <a:p>
            <a:pPr marL="285750" indent="-285750">
              <a:buFont typeface="Arial" panose="020B0604020202020204" pitchFamily="34" charset="0"/>
              <a:buChar char="•"/>
            </a:pPr>
            <a:r>
              <a:rPr lang="es-AR" altLang="en-US" sz="3200"/>
              <a:t>Requisito</a:t>
            </a:r>
            <a:endParaRPr lang="es-AR" altLang="en-US" sz="3200"/>
          </a:p>
          <a:p>
            <a:pPr marL="285750" indent="-285750">
              <a:buFont typeface="Arial" panose="020B0604020202020204" pitchFamily="34" charset="0"/>
              <a:buChar char="•"/>
            </a:pPr>
            <a:r>
              <a:rPr lang="es-AR" altLang="en-US" sz="3200"/>
              <a:t>Tipos de Requisitos</a:t>
            </a:r>
            <a:endParaRPr lang="es-AR" altLang="en-US" sz="3200"/>
          </a:p>
          <a:p>
            <a:pPr marL="285750" indent="-285750">
              <a:buFont typeface="Arial" panose="020B0604020202020204" pitchFamily="34" charset="0"/>
              <a:buChar char="•"/>
            </a:pPr>
            <a:r>
              <a:rPr lang="es-AR" altLang="en-US" sz="3200"/>
              <a:t>Proceso de educción o elicitación de requerimientos</a:t>
            </a:r>
            <a:endParaRPr lang="es-AR" altLang="en-US" sz="3200"/>
          </a:p>
          <a:p>
            <a:pPr marL="285750" indent="-285750">
              <a:buFont typeface="Arial" panose="020B0604020202020204" pitchFamily="34" charset="0"/>
              <a:buChar char="•"/>
            </a:pPr>
            <a:r>
              <a:rPr lang="es-AR" altLang="en-US" sz="3200"/>
              <a:t>Técnicas para educción de requisitos</a:t>
            </a:r>
            <a:endParaRPr lang="es-AR" altLang="en-US" sz="3200"/>
          </a:p>
          <a:p>
            <a:pPr marL="285750" indent="-285750">
              <a:buFont typeface="Arial" panose="020B0604020202020204" pitchFamily="34" charset="0"/>
              <a:buChar char="•"/>
            </a:pPr>
            <a:r>
              <a:rPr lang="es-AR" altLang="en-US" sz="3200"/>
              <a:t>Experto del dominio</a:t>
            </a:r>
            <a:endParaRPr lang="es-AR" altLang="en-US" sz="3200"/>
          </a:p>
          <a:p>
            <a:pPr marL="285750" indent="-285750">
              <a:buFont typeface="Arial" panose="020B0604020202020204" pitchFamily="34" charset="0"/>
              <a:buChar char="•"/>
            </a:pPr>
            <a:r>
              <a:rPr lang="es-AR" altLang="en-US" sz="3200"/>
              <a:t>Documentos y herramientas involucrados</a:t>
            </a:r>
            <a:endParaRPr lang="es-AR" altLang="en-US" sz="3200"/>
          </a:p>
        </p:txBody>
      </p:sp>
      <p:sp>
        <p:nvSpPr>
          <p:cNvPr id="10" name="Left Brace 9"/>
          <p:cNvSpPr/>
          <p:nvPr/>
        </p:nvSpPr>
        <p:spPr>
          <a:xfrm>
            <a:off x="3793490" y="1691005"/>
            <a:ext cx="584200" cy="4582795"/>
          </a:xfrm>
          <a:prstGeom prst="leftBrace">
            <a:avLst/>
          </a:prstGeom>
        </p:spPr>
        <p:style>
          <a:lnRef idx="1">
            <a:schemeClr val="dk1"/>
          </a:lnRef>
          <a:fillRef idx="0">
            <a:schemeClr val="dk1"/>
          </a:fillRef>
          <a:effectRef idx="0">
            <a:schemeClr val="dk1"/>
          </a:effectRef>
          <a:fontRef idx="minor">
            <a:schemeClr val="tx1"/>
          </a:fontRef>
        </p:style>
        <p:txBody>
          <a:bodyPr rtlCol="0" anchor="ctr"/>
          <a:p>
            <a:pPr algn="ctr"/>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365125"/>
            <a:ext cx="10515600" cy="1325563"/>
          </a:xfrm>
        </p:spPr>
        <p:txBody>
          <a:bodyPr/>
          <a:p>
            <a:r>
              <a:rPr lang="es-AR" altLang="en-US" sz="3600" b="1"/>
              <a:t>Ingeniería de Requerimientos de SI (Cont.)</a:t>
            </a:r>
            <a:endParaRPr lang="es-AR" altLang="en-US" sz="36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6" name="Text Box 5"/>
          <p:cNvSpPr txBox="1"/>
          <p:nvPr/>
        </p:nvSpPr>
        <p:spPr>
          <a:xfrm>
            <a:off x="996950" y="1612900"/>
            <a:ext cx="10357485" cy="2614930"/>
          </a:xfrm>
          <a:prstGeom prst="rect">
            <a:avLst/>
          </a:prstGeom>
          <a:noFill/>
        </p:spPr>
        <p:txBody>
          <a:bodyPr wrap="square" rtlCol="0">
            <a:spAutoFit/>
          </a:bodyPr>
          <a:p>
            <a:r>
              <a:rPr lang="es-AR" altLang="en-US" sz="3200"/>
              <a:t>Para debatir...</a:t>
            </a:r>
            <a:endParaRPr lang="es-AR" altLang="en-US" sz="3200"/>
          </a:p>
          <a:p>
            <a:endParaRPr lang="es-AR" altLang="en-US" sz="3200"/>
          </a:p>
          <a:p>
            <a:r>
              <a:rPr lang="es-AR" altLang="en-US" sz="3200" b="1"/>
              <a:t>¿Qué diferencia hay entre Necesidad de SI, Requerimiento Requisito de Software?</a:t>
            </a:r>
            <a:endParaRPr lang="es-AR" altLang="en-US" sz="3200"/>
          </a:p>
          <a:p>
            <a:endParaRPr lang="es-AR" altLang="en-US"/>
          </a:p>
          <a:p>
            <a:endParaRPr lang="es-AR" altLang="en-US"/>
          </a:p>
        </p:txBody>
      </p:sp>
      <p:pic>
        <p:nvPicPr>
          <p:cNvPr id="7" name="Picture 6"/>
          <p:cNvPicPr>
            <a:picLocks noChangeAspect="1"/>
          </p:cNvPicPr>
          <p:nvPr/>
        </p:nvPicPr>
        <p:blipFill>
          <a:blip r:embed="rId2"/>
          <a:stretch>
            <a:fillRect/>
          </a:stretch>
        </p:blipFill>
        <p:spPr>
          <a:xfrm>
            <a:off x="10309860" y="5048250"/>
            <a:ext cx="1322705" cy="1322705"/>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365125"/>
            <a:ext cx="10515600" cy="1325563"/>
          </a:xfrm>
        </p:spPr>
        <p:txBody>
          <a:bodyPr/>
          <a:p>
            <a:r>
              <a:rPr lang="es-AR" altLang="en-US" sz="3600" b="1"/>
              <a:t>Ingeniería de Requerimientos de SI (Cont.)</a:t>
            </a:r>
            <a:endParaRPr lang="es-AR" altLang="en-US" sz="36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6" name="Text Box 5"/>
          <p:cNvSpPr txBox="1"/>
          <p:nvPr/>
        </p:nvSpPr>
        <p:spPr>
          <a:xfrm>
            <a:off x="996950" y="1552575"/>
            <a:ext cx="10552430" cy="1229995"/>
          </a:xfrm>
          <a:prstGeom prst="rect">
            <a:avLst/>
          </a:prstGeom>
          <a:solidFill>
            <a:schemeClr val="tx1"/>
          </a:solidFill>
          <a:ln>
            <a:solidFill>
              <a:srgbClr val="00B0F0"/>
            </a:solidFill>
          </a:ln>
        </p:spPr>
        <p:txBody>
          <a:bodyPr wrap="square" rtlCol="0">
            <a:spAutoFit/>
          </a:bodyPr>
          <a:p>
            <a:r>
              <a:rPr lang="es-AR" altLang="en-US" sz="2000" u="sng">
                <a:solidFill>
                  <a:schemeClr val="bg1"/>
                </a:solidFill>
              </a:rPr>
              <a:t>Necesidad de SI</a:t>
            </a:r>
            <a:r>
              <a:rPr lang="es-AR" altLang="en-US" sz="2000">
                <a:solidFill>
                  <a:schemeClr val="bg1"/>
                </a:solidFill>
              </a:rPr>
              <a:t>:</a:t>
            </a:r>
            <a:endParaRPr lang="es-AR" altLang="en-US" sz="2800">
              <a:solidFill>
                <a:schemeClr val="bg1"/>
              </a:solidFill>
            </a:endParaRPr>
          </a:p>
          <a:p>
            <a:pPr algn="just"/>
            <a:r>
              <a:rPr lang="es-AR" altLang="en-US">
                <a:solidFill>
                  <a:schemeClr val="bg1"/>
                </a:solidFill>
              </a:rPr>
              <a:t>Se entiende como necesidad de sistemas, a todo aquello que el sistema de información debe responder o satisfacer, desde el punto de vista global, según el contexto de su aplicación y dirigido a sus clientes o usuarios. Ejemplos: toma de decisiones, automatización de procesos, productividad de procesos, etc. </a:t>
            </a:r>
            <a:endParaRPr lang="es-AR" altLang="en-US">
              <a:solidFill>
                <a:schemeClr val="bg1"/>
              </a:solidFill>
            </a:endParaRPr>
          </a:p>
        </p:txBody>
      </p:sp>
      <p:sp>
        <p:nvSpPr>
          <p:cNvPr id="3" name="Text Box 2"/>
          <p:cNvSpPr txBox="1"/>
          <p:nvPr/>
        </p:nvSpPr>
        <p:spPr>
          <a:xfrm>
            <a:off x="996950" y="3154045"/>
            <a:ext cx="10552430" cy="1229995"/>
          </a:xfrm>
          <a:prstGeom prst="rect">
            <a:avLst/>
          </a:prstGeom>
          <a:solidFill>
            <a:schemeClr val="accent1">
              <a:lumMod val="75000"/>
            </a:schemeClr>
          </a:solidFill>
          <a:ln>
            <a:solidFill>
              <a:srgbClr val="00B0F0"/>
            </a:solidFill>
          </a:ln>
        </p:spPr>
        <p:txBody>
          <a:bodyPr wrap="square" rtlCol="0">
            <a:spAutoFit/>
          </a:bodyPr>
          <a:p>
            <a:r>
              <a:rPr lang="es-AR" altLang="en-US" sz="2000" u="sng">
                <a:solidFill>
                  <a:schemeClr val="bg1"/>
                </a:solidFill>
              </a:rPr>
              <a:t>Requerimiento</a:t>
            </a:r>
            <a:r>
              <a:rPr lang="es-AR" altLang="en-US" sz="2000">
                <a:solidFill>
                  <a:schemeClr val="bg1"/>
                </a:solidFill>
              </a:rPr>
              <a:t>:</a:t>
            </a:r>
            <a:endParaRPr lang="es-AR" altLang="en-US" sz="2800">
              <a:solidFill>
                <a:schemeClr val="bg1"/>
              </a:solidFill>
            </a:endParaRPr>
          </a:p>
          <a:p>
            <a:pPr algn="just"/>
            <a:r>
              <a:rPr lang="es-AR" altLang="en-US">
                <a:solidFill>
                  <a:schemeClr val="bg1"/>
                </a:solidFill>
              </a:rPr>
              <a:t>Se refiere al conjunto de características o prestaciones, que un sistema de información debe satisfacer para aportar valor y dar apoyo a las necesidades de sus clientes o usuarios. Es un nivel de abstracción superior del sistema de software, donde no se habla de características puntuales sino desde la generalidad.</a:t>
            </a:r>
            <a:endParaRPr lang="es-AR" altLang="en-US">
              <a:solidFill>
                <a:schemeClr val="bg1"/>
              </a:solidFill>
            </a:endParaRPr>
          </a:p>
        </p:txBody>
      </p:sp>
      <p:sp>
        <p:nvSpPr>
          <p:cNvPr id="5" name="Text Box 4"/>
          <p:cNvSpPr txBox="1"/>
          <p:nvPr/>
        </p:nvSpPr>
        <p:spPr>
          <a:xfrm>
            <a:off x="996950" y="4797425"/>
            <a:ext cx="10552430" cy="1229995"/>
          </a:xfrm>
          <a:prstGeom prst="rect">
            <a:avLst/>
          </a:prstGeom>
          <a:solidFill>
            <a:schemeClr val="accent3">
              <a:lumMod val="50000"/>
            </a:schemeClr>
          </a:solidFill>
          <a:ln>
            <a:solidFill>
              <a:srgbClr val="00B0F0"/>
            </a:solidFill>
          </a:ln>
        </p:spPr>
        <p:txBody>
          <a:bodyPr wrap="square" rtlCol="0">
            <a:spAutoFit/>
          </a:bodyPr>
          <a:p>
            <a:r>
              <a:rPr lang="es-AR" altLang="en-US" sz="2000" u="sng">
                <a:solidFill>
                  <a:schemeClr val="bg1"/>
                </a:solidFill>
              </a:rPr>
              <a:t>Requisito</a:t>
            </a:r>
            <a:r>
              <a:rPr lang="es-AR" altLang="en-US" sz="2000">
                <a:solidFill>
                  <a:schemeClr val="bg1"/>
                </a:solidFill>
              </a:rPr>
              <a:t>:</a:t>
            </a:r>
            <a:endParaRPr lang="es-AR" altLang="en-US" sz="2800">
              <a:solidFill>
                <a:schemeClr val="bg1"/>
              </a:solidFill>
            </a:endParaRPr>
          </a:p>
          <a:p>
            <a:pPr algn="just"/>
            <a:r>
              <a:rPr lang="es-AR" altLang="en-US">
                <a:solidFill>
                  <a:schemeClr val="bg1"/>
                </a:solidFill>
              </a:rPr>
              <a:t>Es el conjunto de características, funcionalidades, comportamientos o prestaciones que se espera de un sistema de información por parte de sus clientes o usuarios. Existen diferentes tipos de requisitos, en particular los funcionales y no funcionales, de interface de usuario, etc.</a:t>
            </a:r>
            <a:endParaRPr lang="es-AR" altLang="en-US">
              <a:solidFill>
                <a:schemeClr val="bg1"/>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365125"/>
            <a:ext cx="10515600" cy="1325563"/>
          </a:xfrm>
        </p:spPr>
        <p:txBody>
          <a:bodyPr/>
          <a:p>
            <a:r>
              <a:rPr lang="es-AR" altLang="en-US" sz="3600" b="1"/>
              <a:t>Ingeniería de Requerimientos de SI (Cont.)</a:t>
            </a:r>
            <a:endParaRPr lang="es-AR" altLang="en-US" sz="36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6" name="Text Box 5"/>
          <p:cNvSpPr txBox="1"/>
          <p:nvPr/>
        </p:nvSpPr>
        <p:spPr>
          <a:xfrm>
            <a:off x="996950" y="1612900"/>
            <a:ext cx="10357485" cy="5939155"/>
          </a:xfrm>
          <a:prstGeom prst="rect">
            <a:avLst/>
          </a:prstGeom>
          <a:noFill/>
        </p:spPr>
        <p:txBody>
          <a:bodyPr wrap="square" rtlCol="0">
            <a:spAutoFit/>
          </a:bodyPr>
          <a:p>
            <a:pPr algn="just"/>
            <a:r>
              <a:rPr lang="es-AR" altLang="en-US" sz="2400"/>
              <a:t>En el marco del Proyecto del SI que estamos trabajando, haremos foco en los requisitos. Es decir, el qué debe hacer el SI para agregar valor a sus clientes y usuarios.</a:t>
            </a:r>
            <a:endParaRPr lang="es-AR" altLang="en-US" sz="2400"/>
          </a:p>
          <a:p>
            <a:pPr algn="just"/>
            <a:endParaRPr lang="es-AR" altLang="en-US" sz="2400"/>
          </a:p>
          <a:p>
            <a:pPr algn="just"/>
            <a:endParaRPr lang="es-AR" altLang="en-US" sz="2400"/>
          </a:p>
          <a:p>
            <a:pPr algn="just"/>
            <a:r>
              <a:rPr lang="es-AR" altLang="en-US" sz="2400" b="1"/>
              <a:t>Los requisitos pueden clasificarse en</a:t>
            </a: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a:p>
            <a:pPr algn="just"/>
            <a:r>
              <a:rPr lang="es-AR" altLang="en-US" sz="2400"/>
              <a:t>El </a:t>
            </a:r>
            <a:r>
              <a:rPr lang="es-AR" altLang="en-US" sz="2400" u="sng"/>
              <a:t>proceso de identificación y análisis de requisitos</a:t>
            </a:r>
            <a:r>
              <a:rPr lang="es-AR" altLang="en-US" sz="2400"/>
              <a:t> se conoce como educción de requerimientos, e involucra etapas, herramientas y técnicas para su realización.</a:t>
            </a:r>
            <a:endParaRPr lang="es-AR" altLang="en-US" sz="2400"/>
          </a:p>
          <a:p>
            <a:pPr algn="just"/>
            <a:endParaRPr lang="es-AR" altLang="en-US" sz="3200"/>
          </a:p>
          <a:p>
            <a:endParaRPr lang="es-AR" altLang="en-US"/>
          </a:p>
          <a:p>
            <a:endParaRPr lang="es-AR" altLang="en-US"/>
          </a:p>
        </p:txBody>
      </p:sp>
      <p:sp>
        <p:nvSpPr>
          <p:cNvPr id="3" name="Rounded Rectangle 2"/>
          <p:cNvSpPr/>
          <p:nvPr/>
        </p:nvSpPr>
        <p:spPr>
          <a:xfrm>
            <a:off x="6828155" y="2774315"/>
            <a:ext cx="2086610" cy="48704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s-AR" altLang="en-US"/>
              <a:t>Funcionales</a:t>
            </a:r>
            <a:endParaRPr lang="es-AR" altLang="en-US"/>
          </a:p>
        </p:txBody>
      </p:sp>
      <p:sp>
        <p:nvSpPr>
          <p:cNvPr id="5" name="Rounded Rectangle 4"/>
          <p:cNvSpPr/>
          <p:nvPr/>
        </p:nvSpPr>
        <p:spPr>
          <a:xfrm>
            <a:off x="6828155" y="3554730"/>
            <a:ext cx="2085975" cy="55816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s-AR" altLang="en-US"/>
              <a:t>No Funcionales</a:t>
            </a:r>
            <a:endParaRPr lang="es-AR" altLang="en-US"/>
          </a:p>
        </p:txBody>
      </p:sp>
      <p:sp>
        <p:nvSpPr>
          <p:cNvPr id="8" name="Rounded Rectangle 7"/>
          <p:cNvSpPr/>
          <p:nvPr/>
        </p:nvSpPr>
        <p:spPr>
          <a:xfrm>
            <a:off x="6828155" y="4327525"/>
            <a:ext cx="2086610" cy="48704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s-AR" altLang="en-US"/>
              <a:t>Interfaz</a:t>
            </a:r>
            <a:endParaRPr lang="es-AR" altLang="en-US"/>
          </a:p>
        </p:txBody>
      </p:sp>
      <p:sp>
        <p:nvSpPr>
          <p:cNvPr id="9" name="Left Brace 8"/>
          <p:cNvSpPr/>
          <p:nvPr/>
        </p:nvSpPr>
        <p:spPr>
          <a:xfrm>
            <a:off x="6102350" y="2573020"/>
            <a:ext cx="473075" cy="2545715"/>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p>
            <a:pPr algn="ctr"/>
            <a:endParaRPr lang="en-US"/>
          </a:p>
        </p:txBody>
      </p:sp>
      <p:sp>
        <p:nvSpPr>
          <p:cNvPr id="10" name="Rounded Rectangle 9"/>
          <p:cNvSpPr/>
          <p:nvPr/>
        </p:nvSpPr>
        <p:spPr>
          <a:xfrm>
            <a:off x="969645" y="5633085"/>
            <a:ext cx="10488295" cy="91821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1" name="Text Box 10"/>
          <p:cNvSpPr txBox="1"/>
          <p:nvPr/>
        </p:nvSpPr>
        <p:spPr>
          <a:xfrm>
            <a:off x="1149985" y="4130675"/>
            <a:ext cx="4771390" cy="368300"/>
          </a:xfrm>
          <a:prstGeom prst="rect">
            <a:avLst/>
          </a:prstGeom>
          <a:noFill/>
        </p:spPr>
        <p:txBody>
          <a:bodyPr wrap="square" rtlCol="0">
            <a:spAutoFit/>
          </a:bodyPr>
          <a:p>
            <a:pPr algn="ctr"/>
            <a:r>
              <a:rPr lang="es-AR" altLang="en-US"/>
              <a:t>(Sistema, de Implementación, etc.)</a:t>
            </a:r>
            <a:endParaRPr lang="es-AR"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365125"/>
            <a:ext cx="10515600" cy="1325563"/>
          </a:xfrm>
        </p:spPr>
        <p:txBody>
          <a:bodyPr/>
          <a:p>
            <a:r>
              <a:rPr lang="es-AR" altLang="en-US" sz="3600" b="1"/>
              <a:t>Tipos de Requisitos</a:t>
            </a:r>
            <a:endParaRPr lang="es-AR" altLang="en-US" sz="36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6" name="Text Box 5"/>
          <p:cNvSpPr txBox="1"/>
          <p:nvPr/>
        </p:nvSpPr>
        <p:spPr>
          <a:xfrm>
            <a:off x="996950" y="1612900"/>
            <a:ext cx="10357485" cy="1506855"/>
          </a:xfrm>
          <a:prstGeom prst="rect">
            <a:avLst/>
          </a:prstGeom>
          <a:noFill/>
        </p:spPr>
        <p:txBody>
          <a:bodyPr wrap="square" rtlCol="0">
            <a:spAutoFit/>
          </a:bodyPr>
          <a:p>
            <a:pPr algn="just"/>
            <a:endParaRPr lang="es-AR" altLang="en-US" sz="2400"/>
          </a:p>
          <a:p>
            <a:pPr algn="just"/>
            <a:endParaRPr lang="es-AR" altLang="en-US" sz="3200"/>
          </a:p>
          <a:p>
            <a:endParaRPr lang="es-AR" altLang="en-US"/>
          </a:p>
          <a:p>
            <a:endParaRPr lang="es-AR" altLang="en-US"/>
          </a:p>
        </p:txBody>
      </p:sp>
      <p:sp>
        <p:nvSpPr>
          <p:cNvPr id="3" name="Rounded Rectangle 2"/>
          <p:cNvSpPr/>
          <p:nvPr/>
        </p:nvSpPr>
        <p:spPr>
          <a:xfrm>
            <a:off x="1096645" y="2259330"/>
            <a:ext cx="2086610" cy="48704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s-AR" altLang="en-US"/>
              <a:t>Funcionales</a:t>
            </a:r>
            <a:endParaRPr lang="es-AR" altLang="en-US"/>
          </a:p>
        </p:txBody>
      </p:sp>
      <p:sp>
        <p:nvSpPr>
          <p:cNvPr id="5" name="Rounded Rectangle 4"/>
          <p:cNvSpPr/>
          <p:nvPr/>
        </p:nvSpPr>
        <p:spPr>
          <a:xfrm>
            <a:off x="1097280" y="3769360"/>
            <a:ext cx="2085975" cy="5581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s-AR" altLang="en-US"/>
              <a:t>No Funcionales</a:t>
            </a:r>
            <a:endParaRPr lang="es-AR" altLang="en-US"/>
          </a:p>
        </p:txBody>
      </p:sp>
      <p:sp>
        <p:nvSpPr>
          <p:cNvPr id="8" name="Rounded Rectangle 7"/>
          <p:cNvSpPr/>
          <p:nvPr/>
        </p:nvSpPr>
        <p:spPr>
          <a:xfrm>
            <a:off x="1096645" y="5356860"/>
            <a:ext cx="2086610" cy="48704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r>
              <a:rPr lang="es-AR" altLang="en-US"/>
              <a:t>Interfaz</a:t>
            </a:r>
            <a:endParaRPr lang="es-AR" altLang="en-US"/>
          </a:p>
        </p:txBody>
      </p:sp>
      <p:sp>
        <p:nvSpPr>
          <p:cNvPr id="7" name="Text Box 6"/>
          <p:cNvSpPr txBox="1"/>
          <p:nvPr/>
        </p:nvSpPr>
        <p:spPr>
          <a:xfrm>
            <a:off x="3612515" y="2041525"/>
            <a:ext cx="8110220" cy="922020"/>
          </a:xfrm>
          <a:prstGeom prst="rect">
            <a:avLst/>
          </a:prstGeom>
          <a:noFill/>
          <a:ln>
            <a:solidFill>
              <a:srgbClr val="FF0000"/>
            </a:solidFill>
          </a:ln>
        </p:spPr>
        <p:txBody>
          <a:bodyPr wrap="square" rtlCol="0">
            <a:spAutoFit/>
          </a:bodyPr>
          <a:p>
            <a:pPr algn="just"/>
            <a:r>
              <a:rPr lang="es-AR" altLang="en-US"/>
              <a:t>Los requisitos funcionales involucran el conjunto de características que debe disponer un sistema de software, para dar respuesta a las interacciones con sus usuarios.</a:t>
            </a:r>
            <a:endParaRPr lang="es-AR" altLang="en-US"/>
          </a:p>
        </p:txBody>
      </p:sp>
      <p:sp>
        <p:nvSpPr>
          <p:cNvPr id="11" name="Text Box 10"/>
          <p:cNvSpPr txBox="1"/>
          <p:nvPr/>
        </p:nvSpPr>
        <p:spPr>
          <a:xfrm>
            <a:off x="3612515" y="3587750"/>
            <a:ext cx="8110220" cy="922020"/>
          </a:xfrm>
          <a:prstGeom prst="rect">
            <a:avLst/>
          </a:prstGeom>
          <a:noFill/>
          <a:ln>
            <a:solidFill>
              <a:srgbClr val="FF0000"/>
            </a:solidFill>
          </a:ln>
        </p:spPr>
        <p:txBody>
          <a:bodyPr wrap="square" rtlCol="0">
            <a:spAutoFit/>
          </a:bodyPr>
          <a:p>
            <a:pPr algn="just"/>
            <a:r>
              <a:rPr lang="es-AR" altLang="en-US"/>
              <a:t>Los requisitos no funcionales son requisitos que imponen restricciones en el diseño o la implementación, como, por ejemplo, restricciones en el diseño o estándares de calidad.</a:t>
            </a:r>
            <a:endParaRPr lang="es-AR" altLang="en-US"/>
          </a:p>
        </p:txBody>
      </p:sp>
      <p:sp>
        <p:nvSpPr>
          <p:cNvPr id="12" name="Text Box 11"/>
          <p:cNvSpPr txBox="1"/>
          <p:nvPr/>
        </p:nvSpPr>
        <p:spPr>
          <a:xfrm>
            <a:off x="3612515" y="5192395"/>
            <a:ext cx="8110220" cy="645160"/>
          </a:xfrm>
          <a:prstGeom prst="rect">
            <a:avLst/>
          </a:prstGeom>
          <a:noFill/>
          <a:ln>
            <a:solidFill>
              <a:srgbClr val="FF0000"/>
            </a:solidFill>
          </a:ln>
        </p:spPr>
        <p:txBody>
          <a:bodyPr wrap="square" rtlCol="0">
            <a:spAutoFit/>
          </a:bodyPr>
          <a:p>
            <a:pPr algn="just"/>
            <a:r>
              <a:rPr lang="es-AR" altLang="en-US"/>
              <a:t>Los requisitos de interfaz son aquellos que guardan relación con las entradas y salidas del sistema de información </a:t>
            </a:r>
            <a:endParaRPr lang="es-AR"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365125"/>
            <a:ext cx="10515600" cy="1325563"/>
          </a:xfrm>
        </p:spPr>
        <p:txBody>
          <a:bodyPr/>
          <a:p>
            <a:r>
              <a:rPr lang="es-AR" altLang="en-US" sz="3600" b="1"/>
              <a:t>Proceso de Elicitación de Requerimientos</a:t>
            </a:r>
            <a:endParaRPr lang="es-AR" altLang="en-US" sz="36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6" name="Text Box 5"/>
          <p:cNvSpPr txBox="1"/>
          <p:nvPr/>
        </p:nvSpPr>
        <p:spPr>
          <a:xfrm>
            <a:off x="996950" y="1612900"/>
            <a:ext cx="10357485" cy="1506855"/>
          </a:xfrm>
          <a:prstGeom prst="rect">
            <a:avLst/>
          </a:prstGeom>
          <a:noFill/>
        </p:spPr>
        <p:txBody>
          <a:bodyPr wrap="square" rtlCol="0">
            <a:spAutoFit/>
          </a:bodyPr>
          <a:p>
            <a:pPr algn="just"/>
            <a:endParaRPr lang="es-AR" altLang="en-US" sz="2400"/>
          </a:p>
          <a:p>
            <a:pPr algn="just"/>
            <a:endParaRPr lang="es-AR" altLang="en-US" sz="3200"/>
          </a:p>
          <a:p>
            <a:endParaRPr lang="es-AR" altLang="en-US"/>
          </a:p>
          <a:p>
            <a:endParaRPr lang="es-AR" altLang="en-US"/>
          </a:p>
        </p:txBody>
      </p:sp>
      <p:graphicFrame>
        <p:nvGraphicFramePr>
          <p:cNvPr id="10" name="Diagram 9"/>
          <p:cNvGraphicFramePr/>
          <p:nvPr/>
        </p:nvGraphicFramePr>
        <p:xfrm>
          <a:off x="476885" y="365125"/>
          <a:ext cx="11238230" cy="5609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Picture 12"/>
          <p:cNvPicPr>
            <a:picLocks noChangeAspect="1"/>
          </p:cNvPicPr>
          <p:nvPr/>
        </p:nvPicPr>
        <p:blipFill>
          <a:blip r:embed="rId7"/>
          <a:stretch>
            <a:fillRect/>
          </a:stretch>
        </p:blipFill>
        <p:spPr>
          <a:xfrm>
            <a:off x="476885" y="4015105"/>
            <a:ext cx="1959610" cy="1959610"/>
          </a:xfrm>
          <a:prstGeom prst="rect">
            <a:avLst/>
          </a:prstGeom>
        </p:spPr>
      </p:pic>
      <p:pic>
        <p:nvPicPr>
          <p:cNvPr id="14" name="Picture 13"/>
          <p:cNvPicPr>
            <a:picLocks noChangeAspect="1"/>
          </p:cNvPicPr>
          <p:nvPr/>
        </p:nvPicPr>
        <p:blipFill>
          <a:blip r:embed="rId8"/>
          <a:stretch>
            <a:fillRect/>
          </a:stretch>
        </p:blipFill>
        <p:spPr>
          <a:xfrm>
            <a:off x="3453765" y="4256405"/>
            <a:ext cx="2218055" cy="1477010"/>
          </a:xfrm>
          <a:prstGeom prst="rect">
            <a:avLst/>
          </a:prstGeom>
        </p:spPr>
      </p:pic>
      <p:pic>
        <p:nvPicPr>
          <p:cNvPr id="15" name="Picture 14"/>
          <p:cNvPicPr>
            <a:picLocks noChangeAspect="1"/>
          </p:cNvPicPr>
          <p:nvPr/>
        </p:nvPicPr>
        <p:blipFill>
          <a:blip r:embed="rId9"/>
          <a:stretch>
            <a:fillRect/>
          </a:stretch>
        </p:blipFill>
        <p:spPr>
          <a:xfrm>
            <a:off x="6981825" y="4113530"/>
            <a:ext cx="1057910" cy="2208530"/>
          </a:xfrm>
          <a:prstGeom prst="rect">
            <a:avLst/>
          </a:prstGeom>
        </p:spPr>
      </p:pic>
      <p:pic>
        <p:nvPicPr>
          <p:cNvPr id="16" name="Picture 15"/>
          <p:cNvPicPr>
            <a:picLocks noChangeAspect="1"/>
          </p:cNvPicPr>
          <p:nvPr/>
        </p:nvPicPr>
        <p:blipFill>
          <a:blip r:embed="rId10"/>
          <a:stretch>
            <a:fillRect/>
          </a:stretch>
        </p:blipFill>
        <p:spPr>
          <a:xfrm>
            <a:off x="9571990" y="3831590"/>
            <a:ext cx="2143125" cy="214312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365125"/>
            <a:ext cx="10515600" cy="1325563"/>
          </a:xfrm>
        </p:spPr>
        <p:txBody>
          <a:bodyPr/>
          <a:p>
            <a:r>
              <a:rPr lang="es-AR" altLang="en-US" sz="3600" b="1"/>
              <a:t>Proceso de Elicitación de Requerimientos</a:t>
            </a:r>
            <a:endParaRPr lang="es-AR" altLang="en-US" sz="36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6" name="Text Box 5"/>
          <p:cNvSpPr txBox="1"/>
          <p:nvPr/>
        </p:nvSpPr>
        <p:spPr>
          <a:xfrm>
            <a:off x="996950" y="1612900"/>
            <a:ext cx="10357485" cy="1506855"/>
          </a:xfrm>
          <a:prstGeom prst="rect">
            <a:avLst/>
          </a:prstGeom>
          <a:noFill/>
        </p:spPr>
        <p:txBody>
          <a:bodyPr wrap="square" rtlCol="0">
            <a:spAutoFit/>
          </a:bodyPr>
          <a:p>
            <a:pPr algn="just"/>
            <a:endParaRPr lang="es-AR" altLang="en-US" sz="2400"/>
          </a:p>
          <a:p>
            <a:pPr algn="just"/>
            <a:endParaRPr lang="es-AR" altLang="en-US" sz="3200"/>
          </a:p>
          <a:p>
            <a:endParaRPr lang="es-AR" altLang="en-US"/>
          </a:p>
          <a:p>
            <a:endParaRPr lang="es-AR" altLang="en-US"/>
          </a:p>
        </p:txBody>
      </p:sp>
      <p:sp>
        <p:nvSpPr>
          <p:cNvPr id="3" name="Rectangle 2"/>
          <p:cNvSpPr/>
          <p:nvPr/>
        </p:nvSpPr>
        <p:spPr>
          <a:xfrm>
            <a:off x="996950" y="3119755"/>
            <a:ext cx="1505585" cy="138557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s-AR" altLang="en-US"/>
              <a:t>Técnicas y Herramientas</a:t>
            </a:r>
            <a:endParaRPr lang="es-AR" altLang="en-US"/>
          </a:p>
        </p:txBody>
      </p:sp>
      <p:sp>
        <p:nvSpPr>
          <p:cNvPr id="5" name="Text Box 4"/>
          <p:cNvSpPr txBox="1"/>
          <p:nvPr/>
        </p:nvSpPr>
        <p:spPr>
          <a:xfrm>
            <a:off x="3478530" y="2397760"/>
            <a:ext cx="3139440" cy="3107690"/>
          </a:xfrm>
          <a:prstGeom prst="rect">
            <a:avLst/>
          </a:prstGeom>
          <a:noFill/>
        </p:spPr>
        <p:txBody>
          <a:bodyPr wrap="square" rtlCol="0">
            <a:spAutoFit/>
          </a:bodyPr>
          <a:p>
            <a:pPr marL="285750" indent="-285750">
              <a:buFont typeface="Arial" panose="020B0604020202020204" pitchFamily="34" charset="0"/>
              <a:buChar char="•"/>
            </a:pPr>
            <a:r>
              <a:rPr lang="es-AR" altLang="en-US" sz="2800"/>
              <a:t>Entrevistas</a:t>
            </a:r>
            <a:endParaRPr lang="es-AR" altLang="en-US" sz="2800"/>
          </a:p>
          <a:p>
            <a:pPr marL="285750" indent="-285750">
              <a:buFont typeface="Arial" panose="020B0604020202020204" pitchFamily="34" charset="0"/>
              <a:buChar char="•"/>
            </a:pPr>
            <a:r>
              <a:rPr lang="es-AR" altLang="en-US" sz="2800"/>
              <a:t>Encuestas</a:t>
            </a:r>
            <a:endParaRPr lang="es-AR" altLang="en-US" sz="2800"/>
          </a:p>
          <a:p>
            <a:pPr marL="285750" indent="-285750">
              <a:buFont typeface="Arial" panose="020B0604020202020204" pitchFamily="34" charset="0"/>
              <a:buChar char="•"/>
            </a:pPr>
            <a:r>
              <a:rPr lang="es-AR" altLang="en-US" sz="2800"/>
              <a:t>Cuestionarios</a:t>
            </a:r>
            <a:endParaRPr lang="es-AR" altLang="en-US" sz="2800"/>
          </a:p>
          <a:p>
            <a:pPr marL="285750" indent="-285750">
              <a:buFont typeface="Arial" panose="020B0604020202020204" pitchFamily="34" charset="0"/>
              <a:buChar char="•"/>
            </a:pPr>
            <a:r>
              <a:rPr lang="es-AR" altLang="en-US" sz="2800"/>
              <a:t>Brainstorming</a:t>
            </a:r>
            <a:endParaRPr lang="es-AR" altLang="en-US" sz="2800"/>
          </a:p>
          <a:p>
            <a:pPr marL="285750" indent="-285750">
              <a:buFont typeface="Arial" panose="020B0604020202020204" pitchFamily="34" charset="0"/>
              <a:buChar char="•"/>
            </a:pPr>
            <a:r>
              <a:rPr lang="es-AR" altLang="en-US" sz="2800"/>
              <a:t>Prototipos</a:t>
            </a:r>
            <a:endParaRPr lang="es-AR" altLang="en-US" sz="2800"/>
          </a:p>
          <a:p>
            <a:pPr marL="285750" indent="-285750">
              <a:buFont typeface="Arial" panose="020B0604020202020204" pitchFamily="34" charset="0"/>
              <a:buChar char="•"/>
            </a:pPr>
            <a:r>
              <a:rPr lang="es-AR" altLang="en-US" sz="2800"/>
              <a:t>Observación</a:t>
            </a:r>
            <a:endParaRPr lang="es-AR" altLang="en-US" sz="2800"/>
          </a:p>
          <a:p>
            <a:pPr marL="285750" indent="-285750">
              <a:buFont typeface="Arial" panose="020B0604020202020204" pitchFamily="34" charset="0"/>
              <a:buChar char="•"/>
            </a:pPr>
            <a:r>
              <a:rPr lang="es-AR" altLang="en-US" sz="2800"/>
              <a:t>Otras.</a:t>
            </a:r>
            <a:endParaRPr lang="es-AR" altLang="en-US" sz="2800"/>
          </a:p>
        </p:txBody>
      </p:sp>
      <p:sp>
        <p:nvSpPr>
          <p:cNvPr id="7" name="Left Brace 6"/>
          <p:cNvSpPr/>
          <p:nvPr/>
        </p:nvSpPr>
        <p:spPr>
          <a:xfrm>
            <a:off x="2800350" y="1814195"/>
            <a:ext cx="575310" cy="4274820"/>
          </a:xfrm>
          <a:prstGeom prst="leftBrace">
            <a:avLst/>
          </a:prstGeom>
        </p:spPr>
        <p:style>
          <a:lnRef idx="1">
            <a:schemeClr val="accent3"/>
          </a:lnRef>
          <a:fillRef idx="0">
            <a:schemeClr val="accent3"/>
          </a:fillRef>
          <a:effectRef idx="0">
            <a:schemeClr val="accent3"/>
          </a:effectRef>
          <a:fontRef idx="minor">
            <a:schemeClr val="tx1"/>
          </a:fontRef>
        </p:style>
        <p:txBody>
          <a:bodyPr rtlCol="0" anchor="ctr"/>
          <a:p>
            <a:pPr algn="ctr"/>
            <a:endParaRPr lang="en-US"/>
          </a:p>
        </p:txBody>
      </p:sp>
      <p:sp>
        <p:nvSpPr>
          <p:cNvPr id="8" name="Text Box 7"/>
          <p:cNvSpPr txBox="1"/>
          <p:nvPr/>
        </p:nvSpPr>
        <p:spPr>
          <a:xfrm>
            <a:off x="7385050" y="2020570"/>
            <a:ext cx="3980815" cy="3538220"/>
          </a:xfrm>
          <a:prstGeom prst="rect">
            <a:avLst/>
          </a:prstGeom>
          <a:noFill/>
        </p:spPr>
        <p:txBody>
          <a:bodyPr wrap="square" rtlCol="0">
            <a:spAutoFit/>
          </a:bodyPr>
          <a:p>
            <a:pPr algn="ctr"/>
            <a:r>
              <a:rPr lang="es-AR" altLang="en-US" sz="2800" b="1"/>
              <a:t>¿A quién?</a:t>
            </a:r>
            <a:endParaRPr lang="es-AR" altLang="en-US" sz="2800" b="1"/>
          </a:p>
          <a:p>
            <a:pPr algn="ctr"/>
            <a:endParaRPr lang="es-AR" altLang="en-US" sz="2800"/>
          </a:p>
          <a:p>
            <a:pPr algn="ctr"/>
            <a:endParaRPr lang="es-AR" altLang="en-US" sz="2800"/>
          </a:p>
          <a:p>
            <a:pPr algn="ctr"/>
            <a:r>
              <a:rPr lang="es-AR" altLang="en-US" sz="2800"/>
              <a:t>Cliente</a:t>
            </a:r>
            <a:endParaRPr lang="es-AR" altLang="en-US" sz="2800"/>
          </a:p>
          <a:p>
            <a:pPr algn="ctr"/>
            <a:endParaRPr lang="es-AR" altLang="en-US" sz="2800"/>
          </a:p>
          <a:p>
            <a:pPr algn="ctr"/>
            <a:r>
              <a:rPr lang="es-AR" altLang="en-US" sz="2800"/>
              <a:t>Usuario</a:t>
            </a:r>
            <a:endParaRPr lang="es-AR" altLang="en-US" sz="2800"/>
          </a:p>
          <a:p>
            <a:pPr algn="ctr"/>
            <a:endParaRPr lang="es-AR" altLang="en-US" sz="2800"/>
          </a:p>
          <a:p>
            <a:pPr algn="ctr"/>
            <a:r>
              <a:rPr lang="es-AR" altLang="en-US" sz="2800"/>
              <a:t>Experto del Dominio</a:t>
            </a:r>
            <a:endParaRPr lang="es-AR" altLang="en-US" sz="280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365125"/>
            <a:ext cx="10515600" cy="1325563"/>
          </a:xfrm>
        </p:spPr>
        <p:txBody>
          <a:bodyPr/>
          <a:p>
            <a:r>
              <a:rPr lang="es-AR" altLang="en-US" sz="3600" b="1"/>
              <a:t>Actividad: Análisis de Requerimientos del Proyecto</a:t>
            </a:r>
            <a:endParaRPr lang="es-AR" altLang="en-US" sz="3600" b="1"/>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6" name="Text Box 5"/>
          <p:cNvSpPr txBox="1"/>
          <p:nvPr/>
        </p:nvSpPr>
        <p:spPr>
          <a:xfrm>
            <a:off x="996950" y="1612900"/>
            <a:ext cx="10357485" cy="1506855"/>
          </a:xfrm>
          <a:prstGeom prst="rect">
            <a:avLst/>
          </a:prstGeom>
          <a:noFill/>
        </p:spPr>
        <p:txBody>
          <a:bodyPr wrap="square" rtlCol="0">
            <a:spAutoFit/>
          </a:bodyPr>
          <a:p>
            <a:pPr algn="just"/>
            <a:endParaRPr lang="es-AR" altLang="en-US" sz="2400"/>
          </a:p>
          <a:p>
            <a:pPr algn="just"/>
            <a:endParaRPr lang="es-AR" altLang="en-US" sz="3200"/>
          </a:p>
          <a:p>
            <a:endParaRPr lang="es-AR" altLang="en-US"/>
          </a:p>
          <a:p>
            <a:endParaRPr lang="es-AR" altLang="en-US"/>
          </a:p>
        </p:txBody>
      </p:sp>
      <p:sp>
        <p:nvSpPr>
          <p:cNvPr id="9" name="Text Box 8"/>
          <p:cNvSpPr txBox="1"/>
          <p:nvPr/>
        </p:nvSpPr>
        <p:spPr>
          <a:xfrm>
            <a:off x="996950" y="2138680"/>
            <a:ext cx="10584815" cy="2306955"/>
          </a:xfrm>
          <a:prstGeom prst="rect">
            <a:avLst/>
          </a:prstGeom>
          <a:noFill/>
          <a:ln>
            <a:solidFill>
              <a:schemeClr val="accent4">
                <a:lumMod val="75000"/>
              </a:schemeClr>
            </a:solidFill>
          </a:ln>
        </p:spPr>
        <p:txBody>
          <a:bodyPr wrap="square" rtlCol="0">
            <a:spAutoFit/>
          </a:bodyPr>
          <a:p>
            <a:pPr algn="just"/>
            <a:r>
              <a:rPr lang="es-AR" altLang="en-US" sz="2400"/>
              <a:t>Vamos a trabajar en el siguiente doc compartido, para definir los requisitos del proyecto:</a:t>
            </a:r>
            <a:endParaRPr lang="es-AR" altLang="en-US" sz="2400"/>
          </a:p>
          <a:p>
            <a:pPr algn="just"/>
            <a:endParaRPr lang="es-AR" altLang="en-US" sz="2400"/>
          </a:p>
          <a:p>
            <a:pPr algn="just"/>
            <a:endParaRPr lang="es-AR" altLang="en-US" sz="2400"/>
          </a:p>
          <a:p>
            <a:pPr algn="just"/>
            <a:r>
              <a:rPr lang="es-AR" altLang="en-US" sz="2400"/>
              <a:t>https://docs.google.com/document/d/17KlE4vr56pUjdeqHxkE30BKNsN8qgf73Rt22-UNLl7s/edit </a:t>
            </a:r>
            <a:endParaRPr lang="es-AR" altLang="en-US" sz="240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8" name="Text Box 7"/>
          <p:cNvSpPr txBox="1"/>
          <p:nvPr/>
        </p:nvSpPr>
        <p:spPr>
          <a:xfrm>
            <a:off x="401955" y="3034665"/>
            <a:ext cx="11388090" cy="768350"/>
          </a:xfrm>
          <a:prstGeom prst="rect">
            <a:avLst/>
          </a:prstGeom>
          <a:noFill/>
        </p:spPr>
        <p:txBody>
          <a:bodyPr wrap="square" rtlCol="0">
            <a:spAutoFit/>
          </a:bodyPr>
          <a:p>
            <a:pPr algn="ctr">
              <a:buNone/>
            </a:pPr>
            <a:r>
              <a:rPr lang="es-AR" altLang="en-US" sz="4400" b="1">
                <a:sym typeface="+mn-ea"/>
              </a:rPr>
              <a:t>Metodologías Ágiles: SCRUM</a:t>
            </a:r>
            <a:endParaRPr lang="es-AR" altLang="en-US" sz="4400" b="1"/>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ctrTitle"/>
          </p:nvPr>
        </p:nvSpPr>
        <p:spPr>
          <a:xfrm>
            <a:off x="1524000" y="158433"/>
            <a:ext cx="9144000" cy="2387600"/>
          </a:xfrm>
        </p:spPr>
        <p:txBody>
          <a:bodyPr/>
          <a:p>
            <a:r>
              <a:rPr lang="es-AR" altLang="en-US" b="1">
                <a:solidFill>
                  <a:schemeClr val="bg1"/>
                </a:solidFill>
              </a:rPr>
              <a:t>SCRUM</a:t>
            </a:r>
            <a:endParaRPr lang="es-AR" altLang="en-US" b="1">
              <a:solidFill>
                <a:schemeClr val="bg1"/>
              </a:solidFill>
            </a:endParaRPr>
          </a:p>
        </p:txBody>
      </p:sp>
      <p:sp>
        <p:nvSpPr>
          <p:cNvPr id="6" name="Subtitle 5"/>
          <p:cNvSpPr>
            <a:spLocks noGrp="1"/>
          </p:cNvSpPr>
          <p:nvPr>
            <p:ph type="subTitle" idx="1"/>
          </p:nvPr>
        </p:nvSpPr>
        <p:spPr>
          <a:xfrm>
            <a:off x="1524000" y="2477453"/>
            <a:ext cx="9144000" cy="1655762"/>
          </a:xfrm>
        </p:spPr>
        <p:txBody>
          <a:bodyPr/>
          <a:p>
            <a:r>
              <a:rPr lang="es-AR" altLang="en-US">
                <a:solidFill>
                  <a:schemeClr val="bg1"/>
                </a:solidFill>
              </a:rPr>
              <a:t>Scrum, un marco de trabajo para la gestión de proyectos complejos</a:t>
            </a:r>
            <a:endParaRPr lang="es-AR" altLang="en-US">
              <a:solidFill>
                <a:schemeClr val="bg1"/>
              </a:solidFill>
            </a:endParaRPr>
          </a:p>
        </p:txBody>
      </p:sp>
      <p:pic>
        <p:nvPicPr>
          <p:cNvPr id="7" name="Picture 6"/>
          <p:cNvPicPr>
            <a:picLocks noChangeAspect="1"/>
          </p:cNvPicPr>
          <p:nvPr/>
        </p:nvPicPr>
        <p:blipFill>
          <a:blip r:embed="rId1"/>
          <a:stretch>
            <a:fillRect/>
          </a:stretch>
        </p:blipFill>
        <p:spPr>
          <a:xfrm>
            <a:off x="998220" y="1372870"/>
            <a:ext cx="10195560" cy="4565650"/>
          </a:xfrm>
          <a:prstGeom prst="rect">
            <a:avLst/>
          </a:prstGeom>
        </p:spPr>
      </p:pic>
      <p:pic>
        <p:nvPicPr>
          <p:cNvPr id="8" name="Content Placeholder 7" descr="UCP_Icon"/>
          <p:cNvPicPr>
            <a:picLocks noChangeAspect="1"/>
          </p:cNvPicPr>
          <p:nvPr>
            <p:ph sz="half" idx="2"/>
          </p:nvPr>
        </p:nvPicPr>
        <p:blipFill>
          <a:blip r:embed="rId2"/>
          <a:stretch>
            <a:fillRect/>
          </a:stretch>
        </p:blipFill>
        <p:spPr>
          <a:xfrm>
            <a:off x="10826750" y="177800"/>
            <a:ext cx="1075055" cy="10750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a:t>
            </a:r>
            <a:endParaRPr lang="es-AR" altLang="en-US"/>
          </a:p>
        </p:txBody>
      </p:sp>
      <p:sp>
        <p:nvSpPr>
          <p:cNvPr id="5" name="Content Placeholder 4"/>
          <p:cNvSpPr>
            <a:spLocks noGrp="1"/>
          </p:cNvSpPr>
          <p:nvPr>
            <p:ph idx="1"/>
          </p:nvPr>
        </p:nvSpPr>
        <p:spPr/>
        <p:txBody>
          <a:bodyPr>
            <a:normAutofit fontScale="90000" lnSpcReduction="20000"/>
          </a:bodyPr>
          <a:p>
            <a:pPr marL="0" indent="0" algn="just">
              <a:buNone/>
            </a:pPr>
            <a:r>
              <a:rPr lang="es-AR" altLang="en-US" sz="2400" b="1"/>
              <a:t>Scrum es un marco de trabajo (no es una metodología), para el desarrollo y creación de productos complejos. Permite la entrega de valor y la construcción adaptativa del producto a desarrollar.</a:t>
            </a:r>
            <a:endParaRPr lang="es-AR" altLang="en-US" sz="2400" b="1"/>
          </a:p>
          <a:p>
            <a:pPr marL="0" indent="0">
              <a:buNone/>
            </a:pPr>
            <a:endParaRPr lang="es-AR" altLang="en-US" sz="2400"/>
          </a:p>
          <a:p>
            <a:pPr marL="0" indent="0" algn="just">
              <a:buNone/>
            </a:pPr>
            <a:r>
              <a:rPr lang="es-AR" altLang="en-US" sz="2400"/>
              <a:t>Scrum se basa en la teoría de control de procesos empírica o empirismo. El empirismo asegura que el conocimiento procede de la experiencia y de tomar decisiones basándose en lo que se conoce. Scrum emplea un </a:t>
            </a:r>
            <a:r>
              <a:rPr lang="es-AR" altLang="en-US" sz="2400">
                <a:effectLst>
                  <a:outerShdw blurRad="38100" dist="38100" dir="2700000" algn="tl">
                    <a:srgbClr val="000000">
                      <a:alpha val="43137"/>
                    </a:srgbClr>
                  </a:outerShdw>
                </a:effectLst>
              </a:rPr>
              <a:t>enfoque iterativo e incremental</a:t>
            </a:r>
            <a:r>
              <a:rPr lang="es-AR" altLang="en-US" sz="2400"/>
              <a:t> para optimizar la predictibilidad y el control del riesgo.</a:t>
            </a:r>
            <a:endParaRPr lang="es-AR" altLang="en-US" sz="2400"/>
          </a:p>
          <a:p>
            <a:pPr marL="0" indent="0" algn="just">
              <a:buNone/>
            </a:pPr>
            <a:endParaRPr lang="es-AR" altLang="en-US" sz="2400"/>
          </a:p>
          <a:p>
            <a:pPr marL="0" indent="0">
              <a:buNone/>
            </a:pPr>
            <a:r>
              <a:rPr lang="es-AR" altLang="en-US" sz="2400"/>
              <a:t>Aplica 3 principios:</a:t>
            </a:r>
            <a:endParaRPr lang="es-AR" altLang="en-US" sz="2400"/>
          </a:p>
          <a:p>
            <a:r>
              <a:rPr lang="es-AR" altLang="en-US" sz="2400"/>
              <a:t>Transparencia</a:t>
            </a:r>
            <a:endParaRPr lang="es-AR" altLang="en-US" sz="2400"/>
          </a:p>
          <a:p>
            <a:r>
              <a:rPr lang="es-AR" altLang="en-US" sz="2400"/>
              <a:t>Inspección</a:t>
            </a:r>
            <a:endParaRPr lang="es-AR" altLang="en-US" sz="2400"/>
          </a:p>
          <a:p>
            <a:r>
              <a:rPr lang="es-AR" altLang="en-US" sz="2400"/>
              <a:t>Adaptación</a:t>
            </a:r>
            <a:endParaRPr lang="es-AR" altLang="en-US" sz="2400"/>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8" name="Rectangle 7"/>
          <p:cNvSpPr/>
          <p:nvPr/>
        </p:nvSpPr>
        <p:spPr>
          <a:xfrm>
            <a:off x="842010" y="1689735"/>
            <a:ext cx="10566400" cy="9931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(Cont.)</a:t>
            </a:r>
            <a:endParaRPr lang="es-AR" altLang="en-US"/>
          </a:p>
        </p:txBody>
      </p:sp>
      <p:sp>
        <p:nvSpPr>
          <p:cNvPr id="5" name="Content Placeholder 4"/>
          <p:cNvSpPr>
            <a:spLocks noGrp="1"/>
          </p:cNvSpPr>
          <p:nvPr>
            <p:ph idx="1"/>
          </p:nvPr>
        </p:nvSpPr>
        <p:spPr/>
        <p:txBody>
          <a:bodyPr>
            <a:normAutofit/>
          </a:bodyPr>
          <a:p>
            <a:pPr algn="just"/>
            <a:r>
              <a:rPr lang="es-AR" altLang="en-US" sz="2400"/>
              <a:t>Se creo en los años 90 y luego fue difundido su uso en empresas, proyectos y productos de diversa índole (no solo software).</a:t>
            </a:r>
            <a:endParaRPr lang="es-AR" altLang="en-US" sz="2400"/>
          </a:p>
          <a:p>
            <a:pPr algn="just"/>
            <a:r>
              <a:rPr lang="es-AR" altLang="en-US" sz="2400"/>
              <a:t>Se trata de aplicar prácticas que fomenten el trabajo colaborativo, el abordaje de proyectos complejos, donde los requisitos son cambiantes, no se encuentran definidos y donde existe innovación, flexibilidad y creatividad.</a:t>
            </a:r>
            <a:endParaRPr lang="es-AR" altLang="en-US" sz="2400"/>
          </a:p>
          <a:p>
            <a:pPr algn="just"/>
            <a:r>
              <a:rPr lang="es-AR" altLang="en-US" sz="2400" b="1" i="1"/>
              <a:t>Su esencia es proveer entregas incrementales del producto (denominadas incrementos), agregando valor de a poco, logrando visibilidad.</a:t>
            </a:r>
            <a:endParaRPr lang="es-AR" altLang="en-US" sz="2400"/>
          </a:p>
          <a:p>
            <a:pPr algn="just"/>
            <a:r>
              <a:rPr lang="es-AR" altLang="en-US" sz="2400"/>
              <a:t>Presenta reglas para su realización, artefactos, roles de equipo de proyecto, eventos tales como el </a:t>
            </a:r>
            <a:r>
              <a:rPr lang="es-AR" altLang="en-US" sz="2400" b="1"/>
              <a:t>Sprint </a:t>
            </a:r>
            <a:r>
              <a:rPr lang="es-AR" altLang="en-US" sz="2400"/>
              <a:t>y </a:t>
            </a:r>
            <a:r>
              <a:rPr lang="es-AR" altLang="en-US" sz="2400" b="1"/>
              <a:t>otras ceremonias</a:t>
            </a:r>
            <a:r>
              <a:rPr lang="es-AR" altLang="en-US" sz="2400"/>
              <a:t> que se explicarán a continuación.</a:t>
            </a:r>
            <a:endParaRPr lang="es-AR" altLang="en-US" sz="2400"/>
          </a:p>
          <a:p>
            <a:pPr algn="just"/>
            <a:r>
              <a:rPr lang="es-AR" altLang="en-US" sz="2400"/>
              <a:t>Se trata de reducir el riesgo y visibilizar el valor que se genera.</a:t>
            </a:r>
            <a:endParaRPr lang="es-AR" altLang="en-US" sz="2400"/>
          </a:p>
          <a:p>
            <a:pPr marL="0" indent="0" algn="just">
              <a:buNone/>
            </a:pPr>
            <a:endParaRPr lang="es-AR" altLang="en-US" sz="2400"/>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Rectangle 1"/>
          <p:cNvSpPr/>
          <p:nvPr/>
        </p:nvSpPr>
        <p:spPr>
          <a:xfrm>
            <a:off x="751840" y="3721735"/>
            <a:ext cx="10687050" cy="76771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(Cont.)</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pic>
        <p:nvPicPr>
          <p:cNvPr id="3" name="Picture 2" descr="654651"/>
          <p:cNvPicPr>
            <a:picLocks noChangeAspect="1"/>
          </p:cNvPicPr>
          <p:nvPr/>
        </p:nvPicPr>
        <p:blipFill>
          <a:blip r:embed="rId2"/>
          <a:stretch>
            <a:fillRect/>
          </a:stretch>
        </p:blipFill>
        <p:spPr>
          <a:xfrm>
            <a:off x="2021840" y="1691005"/>
            <a:ext cx="7877175" cy="45529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Conceptos Clave</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2676525"/>
          </a:xfrm>
          <a:prstGeom prst="rect">
            <a:avLst/>
          </a:prstGeom>
          <a:noFill/>
        </p:spPr>
        <p:txBody>
          <a:bodyPr wrap="square" rtlCol="0">
            <a:spAutoFit/>
          </a:bodyPr>
          <a:p>
            <a:pPr algn="just"/>
            <a:r>
              <a:rPr lang="es-AR" altLang="en-US" sz="2400"/>
              <a:t>Los conceptos clave que debemos comprender, para aplicar la metodología en los proyectos son los siguientes:</a:t>
            </a:r>
            <a:endParaRPr lang="es-AR" altLang="en-US" sz="2400"/>
          </a:p>
          <a:p>
            <a:pPr marL="342900" indent="-342900" algn="just">
              <a:buFont typeface="Arial" panose="020B0604020202020204" pitchFamily="34" charset="0"/>
              <a:buChar char="•"/>
            </a:pPr>
            <a:r>
              <a:rPr lang="es-AR" altLang="en-US" sz="2400" b="1"/>
              <a:t>Principios (mencionados en slides anteriores).</a:t>
            </a:r>
            <a:endParaRPr lang="es-AR" altLang="en-US" sz="2400" b="1"/>
          </a:p>
          <a:p>
            <a:pPr marL="342900" indent="-342900" algn="just">
              <a:buFont typeface="Arial" panose="020B0604020202020204" pitchFamily="34" charset="0"/>
              <a:buChar char="•"/>
            </a:pPr>
            <a:r>
              <a:rPr lang="es-AR" altLang="en-US" sz="2400" b="1"/>
              <a:t>Artefactos de Scrum.</a:t>
            </a:r>
            <a:endParaRPr lang="es-AR" altLang="en-US" sz="2400" b="1"/>
          </a:p>
          <a:p>
            <a:pPr marL="342900" indent="-342900" algn="just">
              <a:buFont typeface="Arial" panose="020B0604020202020204" pitchFamily="34" charset="0"/>
              <a:buChar char="•"/>
            </a:pPr>
            <a:r>
              <a:rPr lang="es-AR" altLang="en-US" sz="2400" b="1"/>
              <a:t>Eventos o Ceremonias de Scrum.</a:t>
            </a:r>
            <a:endParaRPr lang="es-AR" altLang="en-US" sz="2400" b="1"/>
          </a:p>
          <a:p>
            <a:pPr marL="342900" indent="-342900" algn="just">
              <a:buFont typeface="Arial" panose="020B0604020202020204" pitchFamily="34" charset="0"/>
              <a:buChar char="•"/>
            </a:pPr>
            <a:r>
              <a:rPr lang="es-AR" altLang="en-US" sz="2400" b="1"/>
              <a:t>Equipo Scrum.</a:t>
            </a:r>
            <a:endParaRPr lang="es-AR" altLang="en-US" sz="2400"/>
          </a:p>
          <a:p>
            <a:pPr algn="just"/>
            <a:endParaRPr lang="es-AR" altLang="en-US" sz="2400"/>
          </a:p>
        </p:txBody>
      </p:sp>
      <p:graphicFrame>
        <p:nvGraphicFramePr>
          <p:cNvPr id="5" name="Table 4"/>
          <p:cNvGraphicFramePr/>
          <p:nvPr/>
        </p:nvGraphicFramePr>
        <p:xfrm>
          <a:off x="965200" y="4260850"/>
          <a:ext cx="2301875" cy="2313305"/>
        </p:xfrm>
        <a:graphic>
          <a:graphicData uri="http://schemas.openxmlformats.org/drawingml/2006/table">
            <a:tbl>
              <a:tblPr firstRow="1" bandRow="1">
                <a:tableStyleId>{5C22544A-7EE6-4342-B048-85BDC9FD1C3A}</a:tableStyleId>
              </a:tblPr>
              <a:tblGrid>
                <a:gridCol w="2301875"/>
              </a:tblGrid>
              <a:tr h="615950">
                <a:tc>
                  <a:txBody>
                    <a:bodyPr/>
                    <a:p>
                      <a:pPr algn="ctr">
                        <a:buNone/>
                      </a:pPr>
                      <a:r>
                        <a:rPr lang="es-AR" altLang="en-US"/>
                        <a:t>Principios</a:t>
                      </a:r>
                      <a:endParaRPr lang="es-AR" altLang="en-US"/>
                    </a:p>
                  </a:txBody>
                  <a:tcPr/>
                </a:tc>
              </a:tr>
              <a:tr h="1697355">
                <a:tc>
                  <a:txBody>
                    <a:bodyPr/>
                    <a:p>
                      <a:pPr marL="285750" indent="-285750">
                        <a:buFont typeface="Arial" panose="020B0604020202020204" pitchFamily="34" charset="0"/>
                        <a:buChar char="•"/>
                      </a:pPr>
                      <a:r>
                        <a:rPr lang="es-AR" altLang="en-US"/>
                        <a:t>Transparencia.</a:t>
                      </a:r>
                      <a:endParaRPr lang="es-AR" altLang="en-US"/>
                    </a:p>
                    <a:p>
                      <a:pPr marL="285750" indent="-285750">
                        <a:buFont typeface="Arial" panose="020B0604020202020204" pitchFamily="34" charset="0"/>
                        <a:buChar char="•"/>
                      </a:pPr>
                      <a:r>
                        <a:rPr lang="es-AR" altLang="en-US"/>
                        <a:t>Inspección.</a:t>
                      </a:r>
                      <a:endParaRPr lang="es-AR" altLang="en-US"/>
                    </a:p>
                    <a:p>
                      <a:pPr marL="285750" indent="-285750">
                        <a:buFont typeface="Arial" panose="020B0604020202020204" pitchFamily="34" charset="0"/>
                        <a:buChar char="•"/>
                      </a:pPr>
                      <a:r>
                        <a:rPr lang="es-AR" altLang="en-US"/>
                        <a:t>Adaptación.</a:t>
                      </a:r>
                      <a:endParaRPr lang="es-AR" altLang="en-US"/>
                    </a:p>
                  </a:txBody>
                  <a:tcPr/>
                </a:tc>
              </a:tr>
            </a:tbl>
          </a:graphicData>
        </a:graphic>
      </p:graphicFrame>
      <p:graphicFrame>
        <p:nvGraphicFramePr>
          <p:cNvPr id="8" name="Table 7"/>
          <p:cNvGraphicFramePr/>
          <p:nvPr/>
        </p:nvGraphicFramePr>
        <p:xfrm>
          <a:off x="3862070" y="4260850"/>
          <a:ext cx="2301875" cy="2312035"/>
        </p:xfrm>
        <a:graphic>
          <a:graphicData uri="http://schemas.openxmlformats.org/drawingml/2006/table">
            <a:tbl>
              <a:tblPr firstRow="1" bandRow="1">
                <a:tableStyleId>{5C22544A-7EE6-4342-B048-85BDC9FD1C3A}</a:tableStyleId>
              </a:tblPr>
              <a:tblGrid>
                <a:gridCol w="2301875"/>
              </a:tblGrid>
              <a:tr h="649605">
                <a:tc>
                  <a:txBody>
                    <a:bodyPr/>
                    <a:p>
                      <a:pPr algn="ctr">
                        <a:buNone/>
                      </a:pPr>
                      <a:r>
                        <a:rPr lang="es-AR" altLang="en-US"/>
                        <a:t>Artefactos</a:t>
                      </a:r>
                      <a:endParaRPr lang="es-AR" altLang="en-US"/>
                    </a:p>
                  </a:txBody>
                  <a:tcPr/>
                </a:tc>
              </a:tr>
              <a:tr h="1662430">
                <a:tc>
                  <a:txBody>
                    <a:bodyPr/>
                    <a:p>
                      <a:pPr marL="285750" indent="-285750">
                        <a:buFont typeface="Arial" panose="020B0604020202020204" pitchFamily="34" charset="0"/>
                        <a:buChar char="•"/>
                      </a:pPr>
                      <a:r>
                        <a:rPr lang="es-AR" altLang="en-US" sz="1800">
                          <a:sym typeface="+mn-ea"/>
                        </a:rPr>
                        <a:t>User Story.</a:t>
                      </a:r>
                      <a:endParaRPr lang="es-AR" altLang="en-US"/>
                    </a:p>
                    <a:p>
                      <a:pPr marL="285750" indent="-285750">
                        <a:buFont typeface="Arial" panose="020B0604020202020204" pitchFamily="34" charset="0"/>
                        <a:buChar char="•"/>
                      </a:pPr>
                      <a:r>
                        <a:rPr lang="es-AR" altLang="en-US"/>
                        <a:t>Product Backlog.</a:t>
                      </a:r>
                      <a:endParaRPr lang="es-AR" altLang="en-US"/>
                    </a:p>
                    <a:p>
                      <a:pPr marL="285750" indent="-285750">
                        <a:buFont typeface="Arial" panose="020B0604020202020204" pitchFamily="34" charset="0"/>
                        <a:buChar char="•"/>
                      </a:pPr>
                      <a:r>
                        <a:rPr lang="es-AR" altLang="en-US"/>
                        <a:t>Sprint Backlog.</a:t>
                      </a:r>
                      <a:endParaRPr lang="es-AR" altLang="en-US"/>
                    </a:p>
                    <a:p>
                      <a:pPr marL="285750" indent="-285750">
                        <a:buFont typeface="Arial" panose="020B0604020202020204" pitchFamily="34" charset="0"/>
                        <a:buChar char="•"/>
                      </a:pPr>
                      <a:r>
                        <a:rPr lang="es-AR" altLang="en-US"/>
                        <a:t>Incremento.</a:t>
                      </a:r>
                      <a:endParaRPr lang="es-AR" altLang="en-US"/>
                    </a:p>
                    <a:p>
                      <a:pPr marL="285750" indent="-285750">
                        <a:buFont typeface="Arial" panose="020B0604020202020204" pitchFamily="34" charset="0"/>
                        <a:buChar char="•"/>
                      </a:pPr>
                      <a:r>
                        <a:rPr lang="es-AR" altLang="en-US"/>
                        <a:t>Boards (opcionales).</a:t>
                      </a:r>
                      <a:endParaRPr lang="es-AR" altLang="en-US"/>
                    </a:p>
                  </a:txBody>
                  <a:tcPr/>
                </a:tc>
              </a:tr>
            </a:tbl>
          </a:graphicData>
        </a:graphic>
      </p:graphicFrame>
      <p:graphicFrame>
        <p:nvGraphicFramePr>
          <p:cNvPr id="9" name="Table 8"/>
          <p:cNvGraphicFramePr/>
          <p:nvPr/>
        </p:nvGraphicFramePr>
        <p:xfrm>
          <a:off x="6480810" y="4260850"/>
          <a:ext cx="2459355" cy="2312670"/>
        </p:xfrm>
        <a:graphic>
          <a:graphicData uri="http://schemas.openxmlformats.org/drawingml/2006/table">
            <a:tbl>
              <a:tblPr firstRow="1" bandRow="1">
                <a:tableStyleId>{5C22544A-7EE6-4342-B048-85BDC9FD1C3A}</a:tableStyleId>
              </a:tblPr>
              <a:tblGrid>
                <a:gridCol w="2459355"/>
              </a:tblGrid>
              <a:tr h="734060">
                <a:tc>
                  <a:txBody>
                    <a:bodyPr/>
                    <a:p>
                      <a:pPr algn="ctr">
                        <a:buNone/>
                      </a:pPr>
                      <a:r>
                        <a:rPr lang="es-AR" altLang="en-US"/>
                        <a:t>Ceremonias</a:t>
                      </a:r>
                      <a:endParaRPr lang="es-AR" altLang="en-US"/>
                    </a:p>
                  </a:txBody>
                  <a:tcPr/>
                </a:tc>
              </a:tr>
              <a:tr h="1578610">
                <a:tc>
                  <a:txBody>
                    <a:bodyPr/>
                    <a:p>
                      <a:pPr marL="285750" indent="-285750">
                        <a:buFont typeface="Arial" panose="020B0604020202020204" pitchFamily="34" charset="0"/>
                        <a:buChar char="•"/>
                      </a:pPr>
                      <a:r>
                        <a:rPr lang="es-AR" altLang="en-US"/>
                        <a:t>Sprint.</a:t>
                      </a:r>
                      <a:endParaRPr lang="es-AR" altLang="en-US"/>
                    </a:p>
                    <a:p>
                      <a:pPr marL="285750" indent="-285750">
                        <a:buFont typeface="Arial" panose="020B0604020202020204" pitchFamily="34" charset="0"/>
                        <a:buChar char="•"/>
                      </a:pPr>
                      <a:r>
                        <a:rPr lang="es-AR" altLang="en-US"/>
                        <a:t>Sprint Planning.</a:t>
                      </a:r>
                      <a:endParaRPr lang="es-AR" altLang="en-US"/>
                    </a:p>
                    <a:p>
                      <a:pPr marL="285750" indent="-285750">
                        <a:buFont typeface="Arial" panose="020B0604020202020204" pitchFamily="34" charset="0"/>
                        <a:buChar char="•"/>
                      </a:pPr>
                      <a:r>
                        <a:rPr lang="es-AR" altLang="en-US"/>
                        <a:t>Sprint Goal.</a:t>
                      </a:r>
                      <a:endParaRPr lang="es-AR" altLang="en-US"/>
                    </a:p>
                    <a:p>
                      <a:pPr marL="285750" indent="-285750">
                        <a:buFont typeface="Arial" panose="020B0604020202020204" pitchFamily="34" charset="0"/>
                        <a:buChar char="•"/>
                      </a:pPr>
                      <a:r>
                        <a:rPr lang="es-AR" altLang="en-US"/>
                        <a:t>Scrum Daily.</a:t>
                      </a:r>
                      <a:endParaRPr lang="es-AR" altLang="en-US"/>
                    </a:p>
                    <a:p>
                      <a:pPr marL="285750" indent="-285750">
                        <a:buFont typeface="Arial" panose="020B0604020202020204" pitchFamily="34" charset="0"/>
                        <a:buChar char="•"/>
                      </a:pPr>
                      <a:r>
                        <a:rPr lang="es-AR" altLang="en-US"/>
                        <a:t>Sprint Review.</a:t>
                      </a:r>
                      <a:endParaRPr lang="es-AR" altLang="en-US"/>
                    </a:p>
                    <a:p>
                      <a:pPr marL="285750" indent="-285750">
                        <a:buFont typeface="Arial" panose="020B0604020202020204" pitchFamily="34" charset="0"/>
                        <a:buChar char="•"/>
                      </a:pPr>
                      <a:r>
                        <a:rPr lang="es-AR" altLang="en-US"/>
                        <a:t>Sprint Retrospective.</a:t>
                      </a:r>
                      <a:endParaRPr lang="es-AR" altLang="en-US"/>
                    </a:p>
                  </a:txBody>
                  <a:tcPr/>
                </a:tc>
              </a:tr>
            </a:tbl>
          </a:graphicData>
        </a:graphic>
      </p:graphicFrame>
      <p:graphicFrame>
        <p:nvGraphicFramePr>
          <p:cNvPr id="10" name="Table 9"/>
          <p:cNvGraphicFramePr/>
          <p:nvPr/>
        </p:nvGraphicFramePr>
        <p:xfrm>
          <a:off x="9257030" y="4260850"/>
          <a:ext cx="2301875" cy="2312035"/>
        </p:xfrm>
        <a:graphic>
          <a:graphicData uri="http://schemas.openxmlformats.org/drawingml/2006/table">
            <a:tbl>
              <a:tblPr firstRow="1" bandRow="1">
                <a:tableStyleId>{5C22544A-7EE6-4342-B048-85BDC9FD1C3A}</a:tableStyleId>
              </a:tblPr>
              <a:tblGrid>
                <a:gridCol w="2301875"/>
              </a:tblGrid>
              <a:tr h="777875">
                <a:tc>
                  <a:txBody>
                    <a:bodyPr/>
                    <a:p>
                      <a:pPr algn="ctr">
                        <a:buNone/>
                      </a:pPr>
                      <a:r>
                        <a:rPr lang="es-AR" altLang="en-US"/>
                        <a:t>Equipo SCRUM</a:t>
                      </a:r>
                      <a:endParaRPr lang="es-AR" altLang="en-US"/>
                    </a:p>
                  </a:txBody>
                  <a:tcPr/>
                </a:tc>
              </a:tr>
              <a:tr h="1534160">
                <a:tc>
                  <a:txBody>
                    <a:bodyPr/>
                    <a:p>
                      <a:pPr marL="285750" indent="-285750">
                        <a:buFont typeface="Arial" panose="020B0604020202020204" pitchFamily="34" charset="0"/>
                        <a:buChar char="•"/>
                      </a:pPr>
                      <a:r>
                        <a:rPr lang="es-AR" altLang="en-US"/>
                        <a:t>Product Owner.</a:t>
                      </a:r>
                      <a:endParaRPr lang="es-AR" altLang="en-US"/>
                    </a:p>
                    <a:p>
                      <a:pPr marL="285750" indent="-285750">
                        <a:buFont typeface="Arial" panose="020B0604020202020204" pitchFamily="34" charset="0"/>
                        <a:buChar char="•"/>
                      </a:pPr>
                      <a:r>
                        <a:rPr lang="es-AR" altLang="en-US"/>
                        <a:t>Scrum Master.</a:t>
                      </a:r>
                      <a:endParaRPr lang="es-AR" altLang="en-US"/>
                    </a:p>
                    <a:p>
                      <a:pPr marL="285750" indent="-285750">
                        <a:buFont typeface="Arial" panose="020B0604020202020204" pitchFamily="34" charset="0"/>
                        <a:buChar char="•"/>
                      </a:pPr>
                      <a:r>
                        <a:rPr lang="es-AR" altLang="en-US"/>
                        <a:t>Team.</a:t>
                      </a:r>
                      <a:endParaRPr lang="es-AR" altLang="en-US"/>
                    </a:p>
                  </a:txBody>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Conceptos Clave -&gt; Artefactos</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2676525"/>
          </a:xfrm>
          <a:prstGeom prst="rect">
            <a:avLst/>
          </a:prstGeom>
          <a:noFill/>
        </p:spPr>
        <p:txBody>
          <a:bodyPr wrap="square" rtlCol="0">
            <a:spAutoFit/>
          </a:bodyPr>
          <a:p>
            <a:pPr algn="just"/>
            <a:r>
              <a:rPr lang="es-AR" altLang="en-US" sz="2400"/>
              <a:t>Los conceptos clave que debemos comprender, para aplicar la metodología en los proyectos son los siguientes:</a:t>
            </a:r>
            <a:endParaRPr lang="es-AR" altLang="en-US" sz="2400"/>
          </a:p>
          <a:p>
            <a:pPr marL="342900" indent="-342900" algn="just">
              <a:buFont typeface="Arial" panose="020B0604020202020204" pitchFamily="34" charset="0"/>
              <a:buChar char="•"/>
            </a:pPr>
            <a:r>
              <a:rPr lang="es-AR" altLang="en-US" sz="2400" b="1"/>
              <a:t>Principios (mencionados en slides anteriores).</a:t>
            </a:r>
            <a:endParaRPr lang="es-AR" altLang="en-US" sz="2400" b="1"/>
          </a:p>
          <a:p>
            <a:pPr marL="342900" indent="-342900" algn="just">
              <a:buFont typeface="Arial" panose="020B0604020202020204" pitchFamily="34" charset="0"/>
              <a:buChar char="•"/>
            </a:pPr>
            <a:r>
              <a:rPr lang="es-AR" altLang="en-US" sz="2400" b="1"/>
              <a:t>Artefactos de Scrum.</a:t>
            </a:r>
            <a:endParaRPr lang="es-AR" altLang="en-US" sz="2400" b="1"/>
          </a:p>
          <a:p>
            <a:pPr marL="342900" indent="-342900" algn="just">
              <a:buFont typeface="Arial" panose="020B0604020202020204" pitchFamily="34" charset="0"/>
              <a:buChar char="•"/>
            </a:pPr>
            <a:r>
              <a:rPr lang="es-AR" altLang="en-US" sz="2400" b="1"/>
              <a:t>Eventos o Ceremonias de Scrum.</a:t>
            </a:r>
            <a:endParaRPr lang="es-AR" altLang="en-US" sz="2400" b="1"/>
          </a:p>
          <a:p>
            <a:pPr marL="342900" indent="-342900" algn="just">
              <a:buFont typeface="Arial" panose="020B0604020202020204" pitchFamily="34" charset="0"/>
              <a:buChar char="•"/>
            </a:pPr>
            <a:r>
              <a:rPr lang="es-AR" altLang="en-US" sz="2400" b="1"/>
              <a:t>Equipo Scrum.</a:t>
            </a:r>
            <a:endParaRPr lang="es-AR" altLang="en-US" sz="2400"/>
          </a:p>
          <a:p>
            <a:pPr algn="just"/>
            <a:endParaRPr lang="es-AR" altLang="en-US" sz="2400"/>
          </a:p>
        </p:txBody>
      </p:sp>
      <p:graphicFrame>
        <p:nvGraphicFramePr>
          <p:cNvPr id="5" name="Table 4"/>
          <p:cNvGraphicFramePr/>
          <p:nvPr/>
        </p:nvGraphicFramePr>
        <p:xfrm>
          <a:off x="965200" y="4260850"/>
          <a:ext cx="2301875" cy="2313305"/>
        </p:xfrm>
        <a:graphic>
          <a:graphicData uri="http://schemas.openxmlformats.org/drawingml/2006/table">
            <a:tbl>
              <a:tblPr firstRow="1" bandRow="1">
                <a:tableStyleId>{5C22544A-7EE6-4342-B048-85BDC9FD1C3A}</a:tableStyleId>
              </a:tblPr>
              <a:tblGrid>
                <a:gridCol w="2301875"/>
              </a:tblGrid>
              <a:tr h="615950">
                <a:tc>
                  <a:txBody>
                    <a:bodyPr/>
                    <a:p>
                      <a:pPr algn="ctr">
                        <a:buNone/>
                      </a:pPr>
                      <a:r>
                        <a:rPr lang="es-AR" altLang="en-US"/>
                        <a:t>Principios</a:t>
                      </a:r>
                      <a:endParaRPr lang="es-AR" altLang="en-US"/>
                    </a:p>
                  </a:txBody>
                  <a:tcPr/>
                </a:tc>
              </a:tr>
              <a:tr h="1697355">
                <a:tc>
                  <a:txBody>
                    <a:bodyPr/>
                    <a:p>
                      <a:pPr marL="285750" indent="-285750">
                        <a:buFont typeface="Arial" panose="020B0604020202020204" pitchFamily="34" charset="0"/>
                        <a:buChar char="•"/>
                      </a:pPr>
                      <a:r>
                        <a:rPr lang="es-AR" altLang="en-US"/>
                        <a:t>Transparencia.</a:t>
                      </a:r>
                      <a:endParaRPr lang="es-AR" altLang="en-US"/>
                    </a:p>
                    <a:p>
                      <a:pPr marL="285750" indent="-285750">
                        <a:buFont typeface="Arial" panose="020B0604020202020204" pitchFamily="34" charset="0"/>
                        <a:buChar char="•"/>
                      </a:pPr>
                      <a:r>
                        <a:rPr lang="es-AR" altLang="en-US"/>
                        <a:t>Inspección.</a:t>
                      </a:r>
                      <a:endParaRPr lang="es-AR" altLang="en-US"/>
                    </a:p>
                    <a:p>
                      <a:pPr marL="285750" indent="-285750">
                        <a:buFont typeface="Arial" panose="020B0604020202020204" pitchFamily="34" charset="0"/>
                        <a:buChar char="•"/>
                      </a:pPr>
                      <a:r>
                        <a:rPr lang="es-AR" altLang="en-US"/>
                        <a:t>Adaptación.</a:t>
                      </a:r>
                      <a:endParaRPr lang="es-AR" altLang="en-US"/>
                    </a:p>
                  </a:txBody>
                  <a:tcPr/>
                </a:tc>
              </a:tr>
            </a:tbl>
          </a:graphicData>
        </a:graphic>
      </p:graphicFrame>
      <p:graphicFrame>
        <p:nvGraphicFramePr>
          <p:cNvPr id="8" name="Table 7"/>
          <p:cNvGraphicFramePr/>
          <p:nvPr/>
        </p:nvGraphicFramePr>
        <p:xfrm>
          <a:off x="3862070" y="4260850"/>
          <a:ext cx="2301875" cy="2312035"/>
        </p:xfrm>
        <a:graphic>
          <a:graphicData uri="http://schemas.openxmlformats.org/drawingml/2006/table">
            <a:tbl>
              <a:tblPr firstRow="1" bandRow="1">
                <a:tableStyleId>{5C22544A-7EE6-4342-B048-85BDC9FD1C3A}</a:tableStyleId>
              </a:tblPr>
              <a:tblGrid>
                <a:gridCol w="2301875"/>
              </a:tblGrid>
              <a:tr h="649605">
                <a:tc>
                  <a:txBody>
                    <a:bodyPr/>
                    <a:p>
                      <a:pPr algn="ctr">
                        <a:buNone/>
                      </a:pPr>
                      <a:r>
                        <a:rPr lang="es-AR" altLang="en-US"/>
                        <a:t>Artefactos</a:t>
                      </a:r>
                      <a:endParaRPr lang="es-AR" altLang="en-US"/>
                    </a:p>
                  </a:txBody>
                  <a:tcPr>
                    <a:solidFill>
                      <a:schemeClr val="tx1"/>
                    </a:solidFill>
                  </a:tcPr>
                </a:tc>
              </a:tr>
              <a:tr h="1662430">
                <a:tc>
                  <a:txBody>
                    <a:bodyPr/>
                    <a:p>
                      <a:pPr marL="285750" indent="-285750">
                        <a:buFont typeface="Arial" panose="020B0604020202020204" pitchFamily="34" charset="0"/>
                        <a:buChar char="•"/>
                      </a:pPr>
                      <a:r>
                        <a:rPr lang="es-AR" altLang="en-US" sz="1800">
                          <a:sym typeface="+mn-ea"/>
                        </a:rPr>
                        <a:t>User Story.</a:t>
                      </a:r>
                      <a:endParaRPr lang="es-AR" altLang="en-US"/>
                    </a:p>
                    <a:p>
                      <a:pPr marL="285750" indent="-285750">
                        <a:buFont typeface="Arial" panose="020B0604020202020204" pitchFamily="34" charset="0"/>
                        <a:buChar char="•"/>
                      </a:pPr>
                      <a:r>
                        <a:rPr lang="es-AR" altLang="en-US"/>
                        <a:t>Product Backlog.</a:t>
                      </a:r>
                      <a:endParaRPr lang="es-AR" altLang="en-US"/>
                    </a:p>
                    <a:p>
                      <a:pPr marL="285750" indent="-285750">
                        <a:buFont typeface="Arial" panose="020B0604020202020204" pitchFamily="34" charset="0"/>
                        <a:buChar char="•"/>
                      </a:pPr>
                      <a:r>
                        <a:rPr lang="es-AR" altLang="en-US"/>
                        <a:t>Sprint Backlog.</a:t>
                      </a:r>
                      <a:endParaRPr lang="es-AR" altLang="en-US"/>
                    </a:p>
                    <a:p>
                      <a:pPr marL="285750" indent="-285750">
                        <a:buFont typeface="Arial" panose="020B0604020202020204" pitchFamily="34" charset="0"/>
                        <a:buChar char="•"/>
                      </a:pPr>
                      <a:r>
                        <a:rPr lang="es-AR" altLang="en-US"/>
                        <a:t>Incremento.</a:t>
                      </a:r>
                      <a:endParaRPr lang="es-AR" altLang="en-US"/>
                    </a:p>
                    <a:p>
                      <a:pPr marL="285750" indent="-285750">
                        <a:buFont typeface="Arial" panose="020B0604020202020204" pitchFamily="34" charset="0"/>
                        <a:buChar char="•"/>
                      </a:pPr>
                      <a:r>
                        <a:rPr lang="es-AR" altLang="en-US"/>
                        <a:t>Boards (opcionales).</a:t>
                      </a:r>
                      <a:endParaRPr lang="es-AR" altLang="en-US"/>
                    </a:p>
                  </a:txBody>
                  <a:tcPr>
                    <a:solidFill>
                      <a:schemeClr val="bg2">
                        <a:lumMod val="90000"/>
                      </a:schemeClr>
                    </a:solidFill>
                  </a:tcPr>
                </a:tc>
              </a:tr>
            </a:tbl>
          </a:graphicData>
        </a:graphic>
      </p:graphicFrame>
      <p:graphicFrame>
        <p:nvGraphicFramePr>
          <p:cNvPr id="9" name="Table 8"/>
          <p:cNvGraphicFramePr/>
          <p:nvPr/>
        </p:nvGraphicFramePr>
        <p:xfrm>
          <a:off x="6480810" y="4260850"/>
          <a:ext cx="2459355" cy="2312670"/>
        </p:xfrm>
        <a:graphic>
          <a:graphicData uri="http://schemas.openxmlformats.org/drawingml/2006/table">
            <a:tbl>
              <a:tblPr firstRow="1" bandRow="1">
                <a:tableStyleId>{5C22544A-7EE6-4342-B048-85BDC9FD1C3A}</a:tableStyleId>
              </a:tblPr>
              <a:tblGrid>
                <a:gridCol w="2459355"/>
              </a:tblGrid>
              <a:tr h="734060">
                <a:tc>
                  <a:txBody>
                    <a:bodyPr/>
                    <a:p>
                      <a:pPr algn="ctr">
                        <a:buNone/>
                      </a:pPr>
                      <a:r>
                        <a:rPr lang="es-AR" altLang="en-US"/>
                        <a:t>Ceremonias</a:t>
                      </a:r>
                      <a:endParaRPr lang="es-AR" altLang="en-US"/>
                    </a:p>
                  </a:txBody>
                  <a:tcPr/>
                </a:tc>
              </a:tr>
              <a:tr h="1578610">
                <a:tc>
                  <a:txBody>
                    <a:bodyPr/>
                    <a:p>
                      <a:pPr marL="285750" indent="-285750">
                        <a:buFont typeface="Arial" panose="020B0604020202020204" pitchFamily="34" charset="0"/>
                        <a:buChar char="•"/>
                      </a:pPr>
                      <a:r>
                        <a:rPr lang="es-AR" altLang="en-US"/>
                        <a:t>Sprint.</a:t>
                      </a:r>
                      <a:endParaRPr lang="es-AR" altLang="en-US"/>
                    </a:p>
                    <a:p>
                      <a:pPr marL="285750" indent="-285750">
                        <a:buFont typeface="Arial" panose="020B0604020202020204" pitchFamily="34" charset="0"/>
                        <a:buChar char="•"/>
                      </a:pPr>
                      <a:r>
                        <a:rPr lang="es-AR" altLang="en-US"/>
                        <a:t>Sprint Planning.</a:t>
                      </a:r>
                      <a:endParaRPr lang="es-AR" altLang="en-US"/>
                    </a:p>
                    <a:p>
                      <a:pPr marL="285750" indent="-285750">
                        <a:buFont typeface="Arial" panose="020B0604020202020204" pitchFamily="34" charset="0"/>
                        <a:buChar char="•"/>
                      </a:pPr>
                      <a:r>
                        <a:rPr lang="es-AR" altLang="en-US"/>
                        <a:t>Sprint Goal.</a:t>
                      </a:r>
                      <a:endParaRPr lang="es-AR" altLang="en-US"/>
                    </a:p>
                    <a:p>
                      <a:pPr marL="285750" indent="-285750">
                        <a:buFont typeface="Arial" panose="020B0604020202020204" pitchFamily="34" charset="0"/>
                        <a:buChar char="•"/>
                      </a:pPr>
                      <a:r>
                        <a:rPr lang="es-AR" altLang="en-US"/>
                        <a:t>Scrum Daily.</a:t>
                      </a:r>
                      <a:endParaRPr lang="es-AR" altLang="en-US"/>
                    </a:p>
                    <a:p>
                      <a:pPr marL="285750" indent="-285750">
                        <a:buFont typeface="Arial" panose="020B0604020202020204" pitchFamily="34" charset="0"/>
                        <a:buChar char="•"/>
                      </a:pPr>
                      <a:r>
                        <a:rPr lang="es-AR" altLang="en-US"/>
                        <a:t>Sprint Review.</a:t>
                      </a:r>
                      <a:endParaRPr lang="es-AR" altLang="en-US"/>
                    </a:p>
                    <a:p>
                      <a:pPr marL="285750" indent="-285750">
                        <a:buFont typeface="Arial" panose="020B0604020202020204" pitchFamily="34" charset="0"/>
                        <a:buChar char="•"/>
                      </a:pPr>
                      <a:r>
                        <a:rPr lang="es-AR" altLang="en-US"/>
                        <a:t>Sprint Retrospective.</a:t>
                      </a:r>
                      <a:endParaRPr lang="es-AR" altLang="en-US"/>
                    </a:p>
                  </a:txBody>
                  <a:tcPr/>
                </a:tc>
              </a:tr>
            </a:tbl>
          </a:graphicData>
        </a:graphic>
      </p:graphicFrame>
      <p:graphicFrame>
        <p:nvGraphicFramePr>
          <p:cNvPr id="10" name="Table 9"/>
          <p:cNvGraphicFramePr/>
          <p:nvPr/>
        </p:nvGraphicFramePr>
        <p:xfrm>
          <a:off x="9257030" y="4260850"/>
          <a:ext cx="2301875" cy="2312035"/>
        </p:xfrm>
        <a:graphic>
          <a:graphicData uri="http://schemas.openxmlformats.org/drawingml/2006/table">
            <a:tbl>
              <a:tblPr firstRow="1" bandRow="1">
                <a:tableStyleId>{5C22544A-7EE6-4342-B048-85BDC9FD1C3A}</a:tableStyleId>
              </a:tblPr>
              <a:tblGrid>
                <a:gridCol w="2301875"/>
              </a:tblGrid>
              <a:tr h="777875">
                <a:tc>
                  <a:txBody>
                    <a:bodyPr/>
                    <a:p>
                      <a:pPr algn="ctr">
                        <a:buNone/>
                      </a:pPr>
                      <a:r>
                        <a:rPr lang="es-AR" altLang="en-US"/>
                        <a:t>Equipo SCRUM</a:t>
                      </a:r>
                      <a:endParaRPr lang="es-AR" altLang="en-US"/>
                    </a:p>
                  </a:txBody>
                  <a:tcPr/>
                </a:tc>
              </a:tr>
              <a:tr h="1534160">
                <a:tc>
                  <a:txBody>
                    <a:bodyPr/>
                    <a:p>
                      <a:pPr marL="285750" indent="-285750">
                        <a:buFont typeface="Arial" panose="020B0604020202020204" pitchFamily="34" charset="0"/>
                        <a:buChar char="•"/>
                      </a:pPr>
                      <a:r>
                        <a:rPr lang="es-AR" altLang="en-US"/>
                        <a:t>Product Owner.</a:t>
                      </a:r>
                      <a:endParaRPr lang="es-AR" altLang="en-US"/>
                    </a:p>
                    <a:p>
                      <a:pPr marL="285750" indent="-285750">
                        <a:buFont typeface="Arial" panose="020B0604020202020204" pitchFamily="34" charset="0"/>
                        <a:buChar char="•"/>
                      </a:pPr>
                      <a:r>
                        <a:rPr lang="es-AR" altLang="en-US"/>
                        <a:t>Scrum Master.</a:t>
                      </a:r>
                      <a:endParaRPr lang="es-AR" altLang="en-US"/>
                    </a:p>
                    <a:p>
                      <a:pPr marL="285750" indent="-285750">
                        <a:buFont typeface="Arial" panose="020B0604020202020204" pitchFamily="34" charset="0"/>
                        <a:buChar char="•"/>
                      </a:pPr>
                      <a:r>
                        <a:rPr lang="es-AR" altLang="en-US"/>
                        <a:t>Team.</a:t>
                      </a:r>
                      <a:endParaRPr lang="es-AR" altLang="en-US"/>
                    </a:p>
                  </a:txBody>
                  <a:tcPr/>
                </a:tc>
              </a:tr>
            </a:tbl>
          </a:graphicData>
        </a:graphic>
      </p:graphicFrame>
      <p:sp>
        <p:nvSpPr>
          <p:cNvPr id="3" name="Rectangle 2"/>
          <p:cNvSpPr/>
          <p:nvPr/>
        </p:nvSpPr>
        <p:spPr>
          <a:xfrm>
            <a:off x="3626485" y="4067810"/>
            <a:ext cx="2739390" cy="2739390"/>
          </a:xfrm>
          <a:prstGeom prst="rect">
            <a:avLst/>
          </a:prstGeom>
          <a:noFill/>
          <a:ln w="412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User Story</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sp>
        <p:nvSpPr>
          <p:cNvPr id="3" name="Text Box 2"/>
          <p:cNvSpPr txBox="1"/>
          <p:nvPr/>
        </p:nvSpPr>
        <p:spPr>
          <a:xfrm>
            <a:off x="962660" y="1463675"/>
            <a:ext cx="10611485" cy="4892675"/>
          </a:xfrm>
          <a:prstGeom prst="rect">
            <a:avLst/>
          </a:prstGeom>
          <a:noFill/>
        </p:spPr>
        <p:txBody>
          <a:bodyPr wrap="square" rtlCol="0">
            <a:spAutoFit/>
          </a:bodyPr>
          <a:p>
            <a:r>
              <a:rPr lang="es-AR" altLang="en-US" sz="2400" b="1"/>
              <a:t>User Story (Historia de Usuario)</a:t>
            </a:r>
            <a:endParaRPr lang="es-AR" altLang="en-US" sz="2400"/>
          </a:p>
          <a:p>
            <a:endParaRPr lang="es-AR" altLang="en-US" sz="2400"/>
          </a:p>
          <a:p>
            <a:pPr algn="just"/>
            <a:r>
              <a:rPr lang="es-AR" altLang="en-US" sz="2400" b="1" i="1"/>
              <a:t>El primer artefacto que utiliza SCRUM es la Historia de Usuario. Es una descripción de una funcionalidad o característica de software que agrega valor para el cliente o usuario. Se escribe comenzando con un verbo.</a:t>
            </a:r>
            <a:endParaRPr lang="es-AR" altLang="en-US" sz="2400"/>
          </a:p>
          <a:p>
            <a:pPr algn="just"/>
            <a:endParaRPr lang="es-AR" altLang="en-US" sz="2400"/>
          </a:p>
          <a:p>
            <a:pPr algn="just"/>
            <a:r>
              <a:rPr lang="es-AR" altLang="en-US" sz="2400"/>
              <a:t>En la metodología, se representa con una estructura de tarjeta, que tiene varios elementos:</a:t>
            </a:r>
            <a:endParaRPr lang="es-AR" altLang="en-US" sz="2400"/>
          </a:p>
          <a:p>
            <a:pPr algn="just"/>
            <a:endParaRPr lang="es-AR" altLang="en-US" sz="2400"/>
          </a:p>
          <a:p>
            <a:pPr marL="285750" indent="-285750" algn="just">
              <a:buFont typeface="Arial" panose="020B0604020202020204" pitchFamily="34" charset="0"/>
              <a:buChar char="•"/>
            </a:pPr>
            <a:r>
              <a:rPr lang="es-AR" altLang="en-US" sz="2400" b="1"/>
              <a:t>Título de la UH</a:t>
            </a:r>
            <a:endParaRPr lang="es-AR" altLang="en-US" sz="2400" b="1"/>
          </a:p>
          <a:p>
            <a:pPr marL="285750" indent="-285750" algn="just">
              <a:buFont typeface="Arial" panose="020B0604020202020204" pitchFamily="34" charset="0"/>
              <a:buChar char="•"/>
            </a:pPr>
            <a:r>
              <a:rPr lang="es-AR" altLang="en-US" sz="2400" b="1"/>
              <a:t>Descripción</a:t>
            </a:r>
            <a:endParaRPr lang="es-AR" altLang="en-US" sz="2400" b="1"/>
          </a:p>
          <a:p>
            <a:pPr marL="285750" indent="-285750" algn="just">
              <a:buFont typeface="Arial" panose="020B0604020202020204" pitchFamily="34" charset="0"/>
              <a:buChar char="•"/>
            </a:pPr>
            <a:r>
              <a:rPr lang="es-AR" altLang="en-US" sz="2400" b="1"/>
              <a:t>Estimación (utilizando la escala que se desee)</a:t>
            </a:r>
            <a:endParaRPr lang="es-AR" altLang="en-US" sz="2400" b="1"/>
          </a:p>
          <a:p>
            <a:pPr marL="285750" indent="-285750" algn="just">
              <a:buFont typeface="Arial" panose="020B0604020202020204" pitchFamily="34" charset="0"/>
              <a:buChar char="•"/>
            </a:pPr>
            <a:r>
              <a:rPr lang="es-AR" altLang="en-US" sz="2400" b="1"/>
              <a:t>Criterios de aceptación o validación</a:t>
            </a:r>
            <a:endParaRPr lang="es-AR" altLang="en-US" sz="2400" b="1"/>
          </a:p>
        </p:txBody>
      </p:sp>
      <p:sp>
        <p:nvSpPr>
          <p:cNvPr id="12" name="Rectangle 11"/>
          <p:cNvSpPr/>
          <p:nvPr/>
        </p:nvSpPr>
        <p:spPr>
          <a:xfrm>
            <a:off x="947420" y="2201545"/>
            <a:ext cx="10775315" cy="11893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pic>
        <p:nvPicPr>
          <p:cNvPr id="13" name="Picture 12"/>
          <p:cNvPicPr>
            <a:picLocks noChangeAspect="1"/>
          </p:cNvPicPr>
          <p:nvPr/>
        </p:nvPicPr>
        <p:blipFill>
          <a:blip r:embed="rId2"/>
          <a:stretch>
            <a:fillRect/>
          </a:stretch>
        </p:blipFill>
        <p:spPr>
          <a:xfrm>
            <a:off x="7509510" y="4375150"/>
            <a:ext cx="4213225" cy="213169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User Story (Cont.)</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sp>
        <p:nvSpPr>
          <p:cNvPr id="3" name="Text Box 2"/>
          <p:cNvSpPr txBox="1"/>
          <p:nvPr/>
        </p:nvSpPr>
        <p:spPr>
          <a:xfrm>
            <a:off x="962660" y="1463675"/>
            <a:ext cx="10611485" cy="6185535"/>
          </a:xfrm>
          <a:prstGeom prst="rect">
            <a:avLst/>
          </a:prstGeom>
          <a:noFill/>
        </p:spPr>
        <p:txBody>
          <a:bodyPr wrap="square" rtlCol="0">
            <a:spAutoFit/>
          </a:bodyPr>
          <a:p>
            <a:pPr marL="342900" indent="-342900">
              <a:buFont typeface="Arial" panose="020B0604020202020204" pitchFamily="34" charset="0"/>
              <a:buChar char="•"/>
            </a:pPr>
            <a:r>
              <a:rPr lang="es-AR" altLang="en-US" sz="2400"/>
              <a:t>Las Historias de Usuario podrán tener tantos campos como se desee. Se debe tener en cuenta que los mismos deben aportar utilidad al proceso y no transformarse en algo burocrático.</a:t>
            </a:r>
            <a:endParaRPr lang="es-AR" altLang="en-US" sz="2400"/>
          </a:p>
          <a:p>
            <a:pPr marL="342900" indent="-342900">
              <a:buFont typeface="Arial" panose="020B0604020202020204" pitchFamily="34" charset="0"/>
              <a:buChar char="•"/>
            </a:pPr>
            <a:r>
              <a:rPr lang="es-AR" altLang="en-US" sz="2400" b="1">
                <a:effectLst>
                  <a:outerShdw blurRad="38100" dist="38100" dir="2700000" algn="tl">
                    <a:srgbClr val="000000">
                      <a:alpha val="43137"/>
                    </a:srgbClr>
                  </a:outerShdw>
                </a:effectLst>
              </a:rPr>
              <a:t>Las UH no son tareas</a:t>
            </a:r>
            <a:r>
              <a:rPr lang="es-AR" altLang="en-US" sz="2400"/>
              <a:t>. Una UH es una descripción de funcionalidad de valor para el producto software, de la cual su implementación puede demandar diferentes tareas.</a:t>
            </a:r>
            <a:endParaRPr lang="es-AR" altLang="en-US" sz="2400"/>
          </a:p>
          <a:p>
            <a:pPr marL="342900" indent="-342900">
              <a:buFont typeface="Arial" panose="020B0604020202020204" pitchFamily="34" charset="0"/>
              <a:buChar char="•"/>
            </a:pPr>
            <a:r>
              <a:rPr lang="es-AR" altLang="en-US" sz="2400"/>
              <a:t>Un nemotécnico de utilidad para elaborar una UH es el de </a:t>
            </a:r>
            <a:r>
              <a:rPr lang="es-AR" altLang="en-US" sz="2400" b="1"/>
              <a:t>INVEST</a:t>
            </a:r>
            <a:r>
              <a:rPr lang="es-AR" altLang="en-US" sz="2400"/>
              <a:t>:</a:t>
            </a:r>
            <a:endParaRPr lang="es-AR" altLang="en-US" sz="2400"/>
          </a:p>
          <a:p>
            <a:pPr marL="800100" lvl="1" indent="-342900">
              <a:buFont typeface="Arial" panose="020B0604020202020204" pitchFamily="34" charset="0"/>
              <a:buChar char="•"/>
            </a:pPr>
            <a:r>
              <a:rPr lang="es-AR" altLang="en-US" sz="2200" b="1"/>
              <a:t>I = Independient (cada UH debe ser lo más independiente posible de las demás).</a:t>
            </a:r>
            <a:endParaRPr lang="es-AR" altLang="en-US" sz="2200" b="1"/>
          </a:p>
          <a:p>
            <a:pPr marL="800100" lvl="1" indent="-342900">
              <a:buFont typeface="Arial" panose="020B0604020202020204" pitchFamily="34" charset="0"/>
              <a:buChar char="•"/>
            </a:pPr>
            <a:r>
              <a:rPr lang="es-AR" altLang="en-US" sz="2200" b="1"/>
              <a:t>N = Negotiable (los miembros del equipo deben poder negociar la misma).</a:t>
            </a:r>
            <a:endParaRPr lang="es-AR" altLang="en-US" sz="2200" b="1"/>
          </a:p>
          <a:p>
            <a:pPr marL="800100" lvl="1" indent="-342900">
              <a:buFont typeface="Arial" panose="020B0604020202020204" pitchFamily="34" charset="0"/>
              <a:buChar char="•"/>
            </a:pPr>
            <a:r>
              <a:rPr lang="es-AR" altLang="en-US" sz="2200" b="1"/>
              <a:t>V = Valuable (debe agregar valor al cliente o usuario, sino no es una UH).</a:t>
            </a:r>
            <a:endParaRPr lang="es-AR" altLang="en-US" sz="2200" b="1"/>
          </a:p>
          <a:p>
            <a:pPr marL="800100" lvl="1" indent="-342900">
              <a:buFont typeface="Arial" panose="020B0604020202020204" pitchFamily="34" charset="0"/>
              <a:buChar char="•"/>
            </a:pPr>
            <a:r>
              <a:rPr lang="es-AR" altLang="en-US" sz="2200" b="1"/>
              <a:t>E = Estimable (debe poder estimarse, con alguna técnica existente).</a:t>
            </a:r>
            <a:endParaRPr lang="es-AR" altLang="en-US" sz="2200" b="1"/>
          </a:p>
          <a:p>
            <a:pPr marL="800100" lvl="1" indent="-342900">
              <a:buFont typeface="Arial" panose="020B0604020202020204" pitchFamily="34" charset="0"/>
              <a:buChar char="•"/>
            </a:pPr>
            <a:r>
              <a:rPr lang="es-AR" altLang="en-US" sz="2200" b="1"/>
              <a:t>S = Small (Pequeña, para poder trabajarse adecuadamente).</a:t>
            </a:r>
            <a:endParaRPr lang="es-AR" altLang="en-US" sz="2200" b="1"/>
          </a:p>
          <a:p>
            <a:pPr marL="800100" lvl="1" indent="-342900">
              <a:buFont typeface="Arial" panose="020B0604020202020204" pitchFamily="34" charset="0"/>
              <a:buChar char="•"/>
            </a:pPr>
            <a:r>
              <a:rPr lang="es-AR" altLang="en-US" sz="2200" b="1"/>
              <a:t>T = Testeable</a:t>
            </a:r>
            <a:endParaRPr lang="es-AR" altLang="en-US" sz="2800"/>
          </a:p>
          <a:p>
            <a:endParaRPr lang="es-AR" altLang="en-US" sz="2400"/>
          </a:p>
          <a:p>
            <a:pPr algn="just"/>
            <a:endParaRPr lang="es-AR" altLang="en-US" sz="2400"/>
          </a:p>
          <a:p>
            <a:pPr algn="just"/>
            <a:endParaRPr lang="es-AR" altLang="en-US" sz="2400"/>
          </a:p>
          <a:p>
            <a:pPr indent="0" algn="just">
              <a:buFont typeface="Arial" panose="020B0604020202020204" pitchFamily="34" charset="0"/>
              <a:buNone/>
            </a:pPr>
            <a:endParaRPr lang="es-AR" altLang="en-US" sz="24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User Story (Cont.)</a:t>
            </a:r>
            <a:endParaRPr lang="es-AR" altLang="en-US"/>
          </a:p>
        </p:txBody>
      </p:sp>
      <p:pic>
        <p:nvPicPr>
          <p:cNvPr id="6" name="Content Placeholder 5" descr="UCP_Icon"/>
          <p:cNvPicPr>
            <a:picLocks noChangeAspect="1"/>
          </p:cNvPicPr>
          <p:nvPr>
            <p:ph sz="half" idx="1"/>
          </p:nvPr>
        </p:nvPicPr>
        <p:blipFill>
          <a:blip r:embed="rId1"/>
          <a:stretch>
            <a:fillRect/>
          </a:stretch>
        </p:blipFill>
        <p:spPr>
          <a:xfrm>
            <a:off x="1523365" y="2096135"/>
            <a:ext cx="890270" cy="890270"/>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5" name="Picture 4"/>
          <p:cNvPicPr>
            <a:picLocks noChangeAspect="1"/>
          </p:cNvPicPr>
          <p:nvPr/>
        </p:nvPicPr>
        <p:blipFill>
          <a:blip r:embed="rId2"/>
          <a:stretch>
            <a:fillRect/>
          </a:stretch>
        </p:blipFill>
        <p:spPr>
          <a:xfrm>
            <a:off x="1059815" y="1454785"/>
            <a:ext cx="3782060" cy="2859405"/>
          </a:xfrm>
          <a:prstGeom prst="rect">
            <a:avLst/>
          </a:prstGeom>
        </p:spPr>
      </p:pic>
      <p:pic>
        <p:nvPicPr>
          <p:cNvPr id="8" name="Picture 7" descr="Historias-de-Usuario-Ejemplo"/>
          <p:cNvPicPr>
            <a:picLocks noChangeAspect="1"/>
          </p:cNvPicPr>
          <p:nvPr/>
        </p:nvPicPr>
        <p:blipFill>
          <a:blip r:embed="rId3"/>
          <a:stretch>
            <a:fillRect/>
          </a:stretch>
        </p:blipFill>
        <p:spPr>
          <a:xfrm>
            <a:off x="4841875" y="4314825"/>
            <a:ext cx="3535680" cy="2376170"/>
          </a:xfrm>
          <a:prstGeom prst="rect">
            <a:avLst/>
          </a:prstGeom>
        </p:spPr>
      </p:pic>
      <p:pic>
        <p:nvPicPr>
          <p:cNvPr id="9" name="Content Placeholder 8"/>
          <p:cNvPicPr>
            <a:picLocks noChangeAspect="1"/>
          </p:cNvPicPr>
          <p:nvPr>
            <p:ph sz="half" idx="2"/>
          </p:nvPr>
        </p:nvPicPr>
        <p:blipFill>
          <a:blip r:embed="rId4"/>
          <a:stretch>
            <a:fillRect/>
          </a:stretch>
        </p:blipFill>
        <p:spPr>
          <a:xfrm>
            <a:off x="5227955" y="1454785"/>
            <a:ext cx="6125845" cy="2860040"/>
          </a:xfrm>
          <a:prstGeom prst="rect">
            <a:avLst/>
          </a:prstGeom>
        </p:spPr>
      </p:pic>
      <p:pic>
        <p:nvPicPr>
          <p:cNvPr id="10"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User Story (Cont.)</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sp>
        <p:nvSpPr>
          <p:cNvPr id="3" name="Text Box 2"/>
          <p:cNvSpPr txBox="1"/>
          <p:nvPr/>
        </p:nvSpPr>
        <p:spPr>
          <a:xfrm>
            <a:off x="962660" y="1463675"/>
            <a:ext cx="10611485" cy="5631180"/>
          </a:xfrm>
          <a:prstGeom prst="rect">
            <a:avLst/>
          </a:prstGeom>
          <a:noFill/>
        </p:spPr>
        <p:txBody>
          <a:bodyPr wrap="square" rtlCol="0">
            <a:spAutoFit/>
          </a:bodyPr>
          <a:p>
            <a:pPr marL="342900" indent="-342900" algn="just">
              <a:buFont typeface="Arial" panose="020B0604020202020204" pitchFamily="34" charset="0"/>
              <a:buChar char="•"/>
            </a:pPr>
            <a:r>
              <a:rPr lang="es-AR" altLang="en-US" sz="2400"/>
              <a:t>Una Historia de Usuario que es muy grande, compleja o que abarca muchas funcionalidades de valor, se la denomina </a:t>
            </a:r>
            <a:r>
              <a:rPr lang="es-AR" altLang="en-US" sz="2400" b="1"/>
              <a:t>Épica </a:t>
            </a:r>
            <a:r>
              <a:rPr lang="es-AR" altLang="en-US" sz="2400"/>
              <a:t>(concepto).</a:t>
            </a:r>
            <a:endParaRPr lang="es-AR" altLang="en-US" sz="2400"/>
          </a:p>
          <a:p>
            <a:pPr marL="342900" indent="-342900" algn="just">
              <a:buFont typeface="Arial" panose="020B0604020202020204" pitchFamily="34" charset="0"/>
              <a:buChar char="•"/>
            </a:pPr>
            <a:r>
              <a:rPr lang="es-AR" altLang="en-US" sz="2400"/>
              <a:t>Toda aquella actividad que sea necesaria en el proyecto (por ejemplo mejorar la distribución de los elementos de la barra de energía, se las conoce como </a:t>
            </a:r>
            <a:r>
              <a:rPr lang="es-AR" altLang="en-US" sz="2400" b="1"/>
              <a:t>Historias Técnicas</a:t>
            </a:r>
            <a:r>
              <a:rPr lang="es-AR" altLang="en-US" sz="2400"/>
              <a:t>). Estas últimas deben evitarse, porque si bien agregan valor al equipo de desarrollo, no lo hacen al stakeholder o cliente.</a:t>
            </a:r>
            <a:endParaRPr lang="es-AR" altLang="en-US" sz="2400"/>
          </a:p>
          <a:p>
            <a:pPr marL="342900" indent="-342900" algn="just">
              <a:buFont typeface="Arial" panose="020B0604020202020204" pitchFamily="34" charset="0"/>
              <a:buChar char="•"/>
            </a:pPr>
            <a:r>
              <a:rPr lang="es-AR" altLang="en-US" sz="2400"/>
              <a:t>Las UH son utilizadas a lo largo de todo el proyecto, pertenecen al </a:t>
            </a:r>
            <a:r>
              <a:rPr lang="es-AR" altLang="en-US" sz="2400" u="sng"/>
              <a:t>Product Backlog</a:t>
            </a:r>
            <a:r>
              <a:rPr lang="es-AR" altLang="en-US" sz="2400"/>
              <a:t> del producto, se las coloca en los </a:t>
            </a:r>
            <a:r>
              <a:rPr lang="es-AR" altLang="en-US" sz="2400" u="sng"/>
              <a:t>Sprint Backlog</a:t>
            </a:r>
            <a:r>
              <a:rPr lang="es-AR" altLang="en-US" sz="2400"/>
              <a:t> y se las va gestionando con el proceso Scrum.</a:t>
            </a:r>
            <a:endParaRPr lang="es-AR" altLang="en-US" sz="2400"/>
          </a:p>
          <a:p>
            <a:pPr marL="342900" indent="-342900" algn="just">
              <a:buFont typeface="Arial" panose="020B0604020202020204" pitchFamily="34" charset="0"/>
              <a:buChar char="•"/>
            </a:pPr>
            <a:r>
              <a:rPr lang="es-AR" altLang="en-US" sz="2400"/>
              <a:t>Su implementación final en el producto, se traduce en el armado del </a:t>
            </a:r>
            <a:r>
              <a:rPr lang="es-AR" altLang="en-US" sz="2400" b="1"/>
              <a:t>Incremento</a:t>
            </a:r>
            <a:r>
              <a:rPr lang="es-AR" altLang="en-US" sz="2400"/>
              <a:t>, que se construye poco a poco.</a:t>
            </a:r>
            <a:endParaRPr lang="es-AR" altLang="en-US" sz="2800"/>
          </a:p>
          <a:p>
            <a:endParaRPr lang="es-AR" altLang="en-US" sz="2400"/>
          </a:p>
          <a:p>
            <a:pPr algn="just"/>
            <a:endParaRPr lang="es-AR" altLang="en-US" sz="2400"/>
          </a:p>
          <a:p>
            <a:pPr algn="just"/>
            <a:endParaRPr lang="es-AR" altLang="en-US" sz="2400"/>
          </a:p>
          <a:p>
            <a:pPr indent="0" algn="just">
              <a:buFont typeface="Arial" panose="020B0604020202020204" pitchFamily="34" charset="0"/>
              <a:buNone/>
            </a:pPr>
            <a:endParaRPr lang="es-AR" altLang="en-US" sz="2400"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Product Backlog</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graphicFrame>
        <p:nvGraphicFramePr>
          <p:cNvPr id="3" name="Table 2"/>
          <p:cNvGraphicFramePr/>
          <p:nvPr/>
        </p:nvGraphicFramePr>
        <p:xfrm>
          <a:off x="965200" y="1584325"/>
          <a:ext cx="10759440" cy="2512060"/>
        </p:xfrm>
        <a:graphic>
          <a:graphicData uri="http://schemas.openxmlformats.org/drawingml/2006/table">
            <a:tbl>
              <a:tblPr firstRow="1" bandRow="1">
                <a:tableStyleId>{5C22544A-7EE6-4342-B048-85BDC9FD1C3A}</a:tableStyleId>
              </a:tblPr>
              <a:tblGrid>
                <a:gridCol w="2689860"/>
                <a:gridCol w="2689860"/>
                <a:gridCol w="2689860"/>
                <a:gridCol w="2689860"/>
              </a:tblGrid>
              <a:tr h="335280">
                <a:tc>
                  <a:txBody>
                    <a:bodyPr/>
                    <a:p>
                      <a:pPr algn="ctr">
                        <a:buNone/>
                      </a:pPr>
                      <a:r>
                        <a:rPr lang="es-AR" altLang="en-US" sz="1600"/>
                        <a:t>UH</a:t>
                      </a:r>
                      <a:endParaRPr lang="es-AR" altLang="en-US" sz="1600"/>
                    </a:p>
                  </a:txBody>
                  <a:tcPr/>
                </a:tc>
                <a:tc>
                  <a:txBody>
                    <a:bodyPr/>
                    <a:p>
                      <a:pPr algn="ctr">
                        <a:buNone/>
                      </a:pPr>
                      <a:r>
                        <a:rPr lang="es-AR" altLang="en-US" sz="1600"/>
                        <a:t>Prioridad</a:t>
                      </a:r>
                      <a:endParaRPr lang="es-AR" altLang="en-US" sz="1600"/>
                    </a:p>
                  </a:txBody>
                  <a:tcPr/>
                </a:tc>
                <a:tc>
                  <a:txBody>
                    <a:bodyPr/>
                    <a:p>
                      <a:pPr algn="ctr">
                        <a:buNone/>
                      </a:pPr>
                      <a:r>
                        <a:rPr lang="es-AR" altLang="en-US" sz="1600"/>
                        <a:t>Estimación</a:t>
                      </a:r>
                      <a:endParaRPr lang="es-AR" altLang="en-US" sz="1600"/>
                    </a:p>
                  </a:txBody>
                  <a:tcPr/>
                </a:tc>
                <a:tc>
                  <a:txBody>
                    <a:bodyPr/>
                    <a:p>
                      <a:pPr algn="ctr">
                        <a:buNone/>
                      </a:pPr>
                      <a:r>
                        <a:rPr lang="es-AR" altLang="en-US" sz="1600"/>
                        <a:t>Sprint</a:t>
                      </a:r>
                      <a:endParaRPr lang="es-AR" altLang="en-US" sz="1600"/>
                    </a:p>
                  </a:txBody>
                  <a:tcPr/>
                </a:tc>
              </a:tr>
              <a:tr h="570230">
                <a:tc>
                  <a:txBody>
                    <a:bodyPr/>
                    <a:p>
                      <a:pPr>
                        <a:buNone/>
                      </a:pPr>
                      <a:r>
                        <a:rPr lang="es-AR" altLang="en-US" sz="1400"/>
                        <a:t>UH 01 - Disparar bomba desde mochila del jugador</a:t>
                      </a:r>
                      <a:endParaRPr lang="es-AR" altLang="en-US" sz="1400"/>
                    </a:p>
                  </a:txBody>
                  <a:tcPr/>
                </a:tc>
                <a:tc>
                  <a:txBody>
                    <a:bodyPr/>
                    <a:p>
                      <a:pPr>
                        <a:buNone/>
                      </a:pPr>
                      <a:r>
                        <a:rPr lang="es-AR" altLang="en-US" sz="1400"/>
                        <a:t>HIGH</a:t>
                      </a:r>
                      <a:endParaRPr lang="es-AR" altLang="en-US" sz="1400"/>
                    </a:p>
                  </a:txBody>
                  <a:tcPr/>
                </a:tc>
                <a:tc>
                  <a:txBody>
                    <a:bodyPr/>
                    <a:p>
                      <a:pPr>
                        <a:buNone/>
                      </a:pPr>
                      <a:r>
                        <a:rPr lang="es-AR" altLang="en-US" sz="1400"/>
                        <a:t>40 puntos de historia</a:t>
                      </a:r>
                      <a:endParaRPr lang="es-AR" altLang="en-US" sz="1400"/>
                    </a:p>
                  </a:txBody>
                  <a:tcPr/>
                </a:tc>
                <a:tc>
                  <a:txBody>
                    <a:bodyPr/>
                    <a:p>
                      <a:pPr>
                        <a:buNone/>
                      </a:pPr>
                      <a:r>
                        <a:rPr lang="es-AR" altLang="en-US" sz="1400"/>
                        <a:t>#2</a:t>
                      </a:r>
                      <a:endParaRPr lang="es-AR" altLang="en-US" sz="1400"/>
                    </a:p>
                  </a:txBody>
                  <a:tcPr/>
                </a:tc>
              </a:tr>
              <a:tr h="518160">
                <a:tc>
                  <a:txBody>
                    <a:bodyPr/>
                    <a:p>
                      <a:pPr>
                        <a:buNone/>
                      </a:pPr>
                      <a:r>
                        <a:rPr lang="es-AR" altLang="en-US" sz="1400"/>
                        <a:t>UH 02 - Recolectar poción de energía</a:t>
                      </a:r>
                      <a:endParaRPr lang="es-AR" altLang="en-US" sz="1400"/>
                    </a:p>
                  </a:txBody>
                  <a:tcPr/>
                </a:tc>
                <a:tc>
                  <a:txBody>
                    <a:bodyPr/>
                    <a:p>
                      <a:pPr>
                        <a:buNone/>
                      </a:pPr>
                      <a:r>
                        <a:rPr lang="es-AR" altLang="en-US" sz="1400"/>
                        <a:t>HIGH</a:t>
                      </a:r>
                      <a:endParaRPr lang="es-AR" altLang="en-US" sz="1400"/>
                    </a:p>
                  </a:txBody>
                  <a:tcPr/>
                </a:tc>
                <a:tc>
                  <a:txBody>
                    <a:bodyPr/>
                    <a:p>
                      <a:pPr>
                        <a:buNone/>
                      </a:pPr>
                      <a:r>
                        <a:rPr lang="es-AR" altLang="en-US" sz="1400"/>
                        <a:t>35 puntos de historia</a:t>
                      </a:r>
                      <a:endParaRPr lang="es-AR" altLang="en-US" sz="1400"/>
                    </a:p>
                  </a:txBody>
                  <a:tcPr/>
                </a:tc>
                <a:tc>
                  <a:txBody>
                    <a:bodyPr/>
                    <a:p>
                      <a:pPr>
                        <a:buNone/>
                      </a:pPr>
                      <a:r>
                        <a:rPr lang="es-AR" altLang="en-US" sz="1400"/>
                        <a:t>#3</a:t>
                      </a:r>
                      <a:endParaRPr lang="es-AR" altLang="en-US" sz="1400"/>
                    </a:p>
                  </a:txBody>
                  <a:tcPr/>
                </a:tc>
              </a:tr>
              <a:tr h="518160">
                <a:tc>
                  <a:txBody>
                    <a:bodyPr/>
                    <a:p>
                      <a:pPr>
                        <a:buNone/>
                      </a:pPr>
                      <a:r>
                        <a:rPr lang="es-AR" altLang="en-US" sz="1400"/>
                        <a:t>UH 03 - Consumir poción de energía</a:t>
                      </a:r>
                      <a:endParaRPr lang="es-AR" altLang="en-US" sz="1400"/>
                    </a:p>
                  </a:txBody>
                  <a:tcPr/>
                </a:tc>
                <a:tc>
                  <a:txBody>
                    <a:bodyPr/>
                    <a:p>
                      <a:pPr>
                        <a:buNone/>
                      </a:pPr>
                      <a:r>
                        <a:rPr lang="es-AR" altLang="en-US" sz="1400"/>
                        <a:t>MEDIUM</a:t>
                      </a:r>
                      <a:endParaRPr lang="es-AR" altLang="en-US" sz="1400"/>
                    </a:p>
                  </a:txBody>
                  <a:tcPr/>
                </a:tc>
                <a:tc>
                  <a:txBody>
                    <a:bodyPr/>
                    <a:p>
                      <a:pPr>
                        <a:buNone/>
                      </a:pPr>
                      <a:r>
                        <a:rPr lang="es-AR" altLang="en-US" sz="1400"/>
                        <a:t>20 puntos de historia</a:t>
                      </a:r>
                      <a:endParaRPr lang="es-AR" altLang="en-US" sz="1400"/>
                    </a:p>
                  </a:txBody>
                  <a:tcPr/>
                </a:tc>
                <a:tc>
                  <a:txBody>
                    <a:bodyPr/>
                    <a:p>
                      <a:pPr>
                        <a:buNone/>
                      </a:pPr>
                      <a:r>
                        <a:rPr lang="es-AR" altLang="en-US" sz="1400"/>
                        <a:t>#3</a:t>
                      </a:r>
                      <a:endParaRPr lang="es-AR" altLang="en-US" sz="1400"/>
                    </a:p>
                  </a:txBody>
                  <a:tcPr/>
                </a:tc>
              </a:tr>
              <a:tr h="570230">
                <a:tc>
                  <a:txBody>
                    <a:bodyPr/>
                    <a:p>
                      <a:pPr>
                        <a:buNone/>
                      </a:pPr>
                      <a:r>
                        <a:rPr lang="es-AR" altLang="en-US" sz="1400"/>
                        <a:t>UH 04 - Mostrar menú de configuraciones del juego</a:t>
                      </a:r>
                      <a:endParaRPr lang="es-AR" altLang="en-US" sz="1400"/>
                    </a:p>
                  </a:txBody>
                  <a:tcPr/>
                </a:tc>
                <a:tc>
                  <a:txBody>
                    <a:bodyPr/>
                    <a:p>
                      <a:pPr>
                        <a:buNone/>
                      </a:pPr>
                      <a:r>
                        <a:rPr lang="es-AR" altLang="en-US" sz="1400"/>
                        <a:t>LOW</a:t>
                      </a:r>
                      <a:endParaRPr lang="es-AR" altLang="en-US" sz="1400"/>
                    </a:p>
                  </a:txBody>
                  <a:tcPr/>
                </a:tc>
                <a:tc>
                  <a:txBody>
                    <a:bodyPr/>
                    <a:p>
                      <a:pPr>
                        <a:buNone/>
                      </a:pPr>
                      <a:r>
                        <a:rPr lang="es-AR" altLang="en-US" sz="1400"/>
                        <a:t>10 puntos de historia</a:t>
                      </a:r>
                      <a:endParaRPr lang="es-AR" altLang="en-US" sz="1400"/>
                    </a:p>
                  </a:txBody>
                  <a:tcPr/>
                </a:tc>
                <a:tc>
                  <a:txBody>
                    <a:bodyPr/>
                    <a:p>
                      <a:pPr>
                        <a:buNone/>
                      </a:pPr>
                      <a:r>
                        <a:rPr lang="es-AR" altLang="en-US" sz="1400"/>
                        <a:t>#6</a:t>
                      </a:r>
                      <a:endParaRPr lang="es-AR" altLang="en-US" sz="1400"/>
                    </a:p>
                  </a:txBody>
                  <a:tcPr/>
                </a:tc>
              </a:tr>
            </a:tbl>
          </a:graphicData>
        </a:graphic>
      </p:graphicFrame>
      <p:sp>
        <p:nvSpPr>
          <p:cNvPr id="5" name="Text Box 4"/>
          <p:cNvSpPr txBox="1"/>
          <p:nvPr/>
        </p:nvSpPr>
        <p:spPr>
          <a:xfrm>
            <a:off x="992505" y="4248785"/>
            <a:ext cx="10687050" cy="2461260"/>
          </a:xfrm>
          <a:prstGeom prst="rect">
            <a:avLst/>
          </a:prstGeom>
          <a:noFill/>
        </p:spPr>
        <p:txBody>
          <a:bodyPr wrap="square" rtlCol="0">
            <a:spAutoFit/>
          </a:bodyPr>
          <a:p>
            <a:pPr algn="just"/>
            <a:r>
              <a:rPr lang="es-AR" altLang="en-US" sz="2200"/>
              <a:t>El </a:t>
            </a:r>
            <a:r>
              <a:rPr lang="es-AR" altLang="en-US" sz="2200" b="1"/>
              <a:t>Product Backlog</a:t>
            </a:r>
            <a:r>
              <a:rPr lang="es-AR" altLang="en-US" sz="2200"/>
              <a:t> es una lista ordenada de todo lo necesario para el producto (contiene todas las UH del producto).</a:t>
            </a:r>
            <a:endParaRPr lang="es-AR" altLang="en-US" sz="2200"/>
          </a:p>
          <a:p>
            <a:pPr algn="just"/>
            <a:r>
              <a:rPr lang="es-AR" altLang="en-US" sz="2200"/>
              <a:t>Es la única fuente de requisitos para realizar cualquier cambio. </a:t>
            </a:r>
            <a:r>
              <a:rPr lang="es-AR" altLang="en-US" sz="2200" b="1"/>
              <a:t>Su responsable es el Product Owner</a:t>
            </a:r>
            <a:r>
              <a:rPr lang="es-AR" altLang="en-US" sz="2200"/>
              <a:t>.</a:t>
            </a:r>
            <a:endParaRPr lang="es-AR" altLang="en-US" sz="2200"/>
          </a:p>
          <a:p>
            <a:pPr algn="just"/>
            <a:r>
              <a:rPr lang="es-AR" altLang="en-US" sz="2200" i="1"/>
              <a:t>Nunca está completa, es dinámica.</a:t>
            </a:r>
            <a:endParaRPr lang="es-AR" altLang="en-US" sz="2200"/>
          </a:p>
          <a:p>
            <a:pPr algn="just"/>
            <a:r>
              <a:rPr lang="es-AR" altLang="en-US" sz="2200"/>
              <a:t>Cada Sprint implementa el desarrollo de X Historias de Usuario del Product Backlog, en cada Sprint Backlog</a:t>
            </a:r>
            <a:r>
              <a:rPr lang="es-AR" altLang="en-US"/>
              <a:t>.</a:t>
            </a:r>
            <a:endParaRPr lang="es-A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Product Backlog (Cont.)</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sp>
        <p:nvSpPr>
          <p:cNvPr id="5" name="Text Box 4"/>
          <p:cNvSpPr txBox="1"/>
          <p:nvPr/>
        </p:nvSpPr>
        <p:spPr>
          <a:xfrm>
            <a:off x="917575" y="1584325"/>
            <a:ext cx="10687050" cy="3784600"/>
          </a:xfrm>
          <a:prstGeom prst="rect">
            <a:avLst/>
          </a:prstGeom>
          <a:noFill/>
        </p:spPr>
        <p:txBody>
          <a:bodyPr wrap="square" rtlCol="0">
            <a:spAutoFit/>
          </a:bodyPr>
          <a:p>
            <a:pPr marL="285750" indent="-285750" algn="just">
              <a:buFont typeface="Arial" panose="020B0604020202020204" pitchFamily="34" charset="0"/>
              <a:buChar char="•"/>
            </a:pPr>
            <a:r>
              <a:rPr lang="es-AR" altLang="en-US" sz="2400"/>
              <a:t>Al ser dinámico, a lo largo del tiempo se agregan / quitan / modifican Historias de Usuario de la lista. </a:t>
            </a:r>
            <a:endParaRPr lang="es-AR" altLang="en-US" sz="2400"/>
          </a:p>
          <a:p>
            <a:pPr marL="285750" indent="-285750" algn="just">
              <a:buFont typeface="Arial" panose="020B0604020202020204" pitchFamily="34" charset="0"/>
              <a:buChar char="•"/>
            </a:pPr>
            <a:r>
              <a:rPr lang="es-AR" altLang="en-US" sz="2400"/>
              <a:t>Si bien su responsable es el Product Owner, todo el equipo se involucra en su planificación y organización.</a:t>
            </a:r>
            <a:endParaRPr lang="es-AR" altLang="en-US" sz="2400"/>
          </a:p>
          <a:p>
            <a:pPr marL="285750" indent="-285750" algn="just">
              <a:buFont typeface="Arial" panose="020B0604020202020204" pitchFamily="34" charset="0"/>
              <a:buChar char="•"/>
            </a:pPr>
            <a:r>
              <a:rPr lang="es-AR" altLang="en-US" sz="2400"/>
              <a:t>Se suele decir que se hace un “</a:t>
            </a:r>
            <a:r>
              <a:rPr lang="es-AR" altLang="en-US" sz="2400" b="1" i="1"/>
              <a:t>refinamiento</a:t>
            </a:r>
            <a:r>
              <a:rPr lang="es-AR" altLang="en-US" sz="2400"/>
              <a:t>” de la lista, trabajando sobre características como ser su prioridad, estimación, etc.</a:t>
            </a:r>
            <a:endParaRPr lang="es-AR" altLang="en-US" sz="2400"/>
          </a:p>
          <a:p>
            <a:pPr marL="285750" indent="-285750" algn="just">
              <a:buFont typeface="Arial" panose="020B0604020202020204" pitchFamily="34" charset="0"/>
              <a:buChar char="•"/>
            </a:pPr>
            <a:r>
              <a:rPr lang="es-AR" altLang="en-US" sz="2400"/>
              <a:t>Los miembros del equipo son responsables de las estimaciones de los artefactos, sin embargo el PO es el responsable de su administración.</a:t>
            </a:r>
            <a:endParaRPr lang="es-AR" altLang="en-US" sz="2400"/>
          </a:p>
          <a:p>
            <a:pPr marL="285750" indent="-285750" algn="just">
              <a:buFont typeface="Arial" panose="020B0604020202020204" pitchFamily="34" charset="0"/>
              <a:buChar char="•"/>
            </a:pPr>
            <a:r>
              <a:rPr lang="es-AR" altLang="en-US" sz="2400"/>
              <a:t>El PO además es quién fija el Valor de las UH, para luego junto al equipo proceder a su priorización y asignación de prioridad.</a:t>
            </a:r>
            <a:endParaRPr lang="es-AR" altLang="en-US" sz="2400"/>
          </a:p>
        </p:txBody>
      </p:sp>
      <p:pic>
        <p:nvPicPr>
          <p:cNvPr id="8" name="Picture 7" descr="654651"/>
          <p:cNvPicPr>
            <a:picLocks noChangeAspect="1"/>
          </p:cNvPicPr>
          <p:nvPr/>
        </p:nvPicPr>
        <p:blipFill>
          <a:blip r:embed="rId2"/>
          <a:srcRect t="21158" r="78670" b="33250"/>
          <a:stretch>
            <a:fillRect/>
          </a:stretch>
        </p:blipFill>
        <p:spPr>
          <a:xfrm>
            <a:off x="6823710" y="5153025"/>
            <a:ext cx="1138555" cy="1406525"/>
          </a:xfrm>
          <a:prstGeom prst="rect">
            <a:avLst/>
          </a:prstGeom>
        </p:spPr>
      </p:pic>
      <p:pic>
        <p:nvPicPr>
          <p:cNvPr id="13" name="Picture 12"/>
          <p:cNvPicPr>
            <a:picLocks noChangeAspect="1"/>
          </p:cNvPicPr>
          <p:nvPr/>
        </p:nvPicPr>
        <p:blipFill>
          <a:blip r:embed="rId3"/>
          <a:stretch>
            <a:fillRect/>
          </a:stretch>
        </p:blipFill>
        <p:spPr>
          <a:xfrm>
            <a:off x="4213225" y="5509260"/>
            <a:ext cx="2075815" cy="10502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Sprint Backlog</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sp>
        <p:nvSpPr>
          <p:cNvPr id="3" name="Text Box 2"/>
          <p:cNvSpPr txBox="1"/>
          <p:nvPr/>
        </p:nvSpPr>
        <p:spPr>
          <a:xfrm>
            <a:off x="962660" y="1433830"/>
            <a:ext cx="10686415" cy="2676525"/>
          </a:xfrm>
          <a:prstGeom prst="rect">
            <a:avLst/>
          </a:prstGeom>
          <a:noFill/>
        </p:spPr>
        <p:txBody>
          <a:bodyPr wrap="square" rtlCol="0">
            <a:spAutoFit/>
          </a:bodyPr>
          <a:p>
            <a:pPr algn="just"/>
            <a:r>
              <a:rPr lang="es-AR" altLang="en-US" sz="2400" b="1"/>
              <a:t>SPRINT BACKLOG</a:t>
            </a:r>
            <a:endParaRPr lang="es-AR" altLang="en-US" sz="2400"/>
          </a:p>
          <a:p>
            <a:pPr algn="just"/>
            <a:endParaRPr lang="es-AR" altLang="en-US" sz="2400"/>
          </a:p>
          <a:p>
            <a:pPr algn="just"/>
            <a:r>
              <a:rPr lang="es-AR" altLang="en-US" sz="2400"/>
              <a:t>Es el conjunto de elementos (UH), del Product Backlog seleccionados para el Sprint.</a:t>
            </a:r>
            <a:endParaRPr lang="es-AR" altLang="en-US" sz="2400"/>
          </a:p>
          <a:p>
            <a:pPr algn="just"/>
            <a:r>
              <a:rPr lang="es-AR" altLang="en-US" sz="2400"/>
              <a:t>Más un plan para entregar el Incremento de Producto y conseguir el objetivo del Sprint.</a:t>
            </a:r>
            <a:endParaRPr lang="es-AR" altLang="en-US" sz="2400"/>
          </a:p>
          <a:p>
            <a:pPr algn="just"/>
            <a:r>
              <a:rPr lang="es-AR" altLang="en-US" sz="2400"/>
              <a:t>Hace visible todo el trabajo que el equipo de desarrollo identifica como necesario, para alcanzar el objetivo del Sprint.</a:t>
            </a:r>
            <a:endParaRPr lang="es-AR" altLang="en-US" sz="2400"/>
          </a:p>
        </p:txBody>
      </p:sp>
      <p:pic>
        <p:nvPicPr>
          <p:cNvPr id="8" name="Picture 7" descr="654651"/>
          <p:cNvPicPr>
            <a:picLocks noChangeAspect="1"/>
          </p:cNvPicPr>
          <p:nvPr/>
        </p:nvPicPr>
        <p:blipFill>
          <a:blip r:embed="rId2"/>
          <a:srcRect t="21158" r="78670" b="33250"/>
          <a:stretch>
            <a:fillRect/>
          </a:stretch>
        </p:blipFill>
        <p:spPr>
          <a:xfrm>
            <a:off x="4897120" y="4605655"/>
            <a:ext cx="1138555" cy="1406525"/>
          </a:xfrm>
          <a:prstGeom prst="rect">
            <a:avLst/>
          </a:prstGeom>
        </p:spPr>
      </p:pic>
      <p:pic>
        <p:nvPicPr>
          <p:cNvPr id="13" name="Picture 12"/>
          <p:cNvPicPr>
            <a:picLocks noChangeAspect="1"/>
          </p:cNvPicPr>
          <p:nvPr/>
        </p:nvPicPr>
        <p:blipFill>
          <a:blip r:embed="rId3"/>
          <a:stretch>
            <a:fillRect/>
          </a:stretch>
        </p:blipFill>
        <p:spPr>
          <a:xfrm>
            <a:off x="2286635" y="4961890"/>
            <a:ext cx="2075815" cy="1050290"/>
          </a:xfrm>
          <a:prstGeom prst="rect">
            <a:avLst/>
          </a:prstGeom>
        </p:spPr>
      </p:pic>
      <p:pic>
        <p:nvPicPr>
          <p:cNvPr id="5" name="Picture 4"/>
          <p:cNvPicPr>
            <a:picLocks noChangeAspect="1"/>
          </p:cNvPicPr>
          <p:nvPr/>
        </p:nvPicPr>
        <p:blipFill>
          <a:blip r:embed="rId4"/>
          <a:stretch>
            <a:fillRect/>
          </a:stretch>
        </p:blipFill>
        <p:spPr>
          <a:xfrm>
            <a:off x="6143625" y="5139690"/>
            <a:ext cx="1228725" cy="10001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Sprint Backlog (Cont.)</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0" name="Content Placeholder 9" descr="Sprint-Backlog-1024x693"/>
          <p:cNvPicPr>
            <a:picLocks noChangeAspect="1"/>
          </p:cNvPicPr>
          <p:nvPr>
            <p:ph sz="half" idx="2"/>
          </p:nvPr>
        </p:nvPicPr>
        <p:blipFill>
          <a:blip r:embed="rId1"/>
          <a:stretch>
            <a:fillRect/>
          </a:stretch>
        </p:blipFill>
        <p:spPr>
          <a:xfrm>
            <a:off x="2658745" y="1718945"/>
            <a:ext cx="6566535" cy="4443730"/>
          </a:xfrm>
          <a:prstGeom prst="rect">
            <a:avLst/>
          </a:prstGeom>
        </p:spPr>
      </p:pic>
      <p:pic>
        <p:nvPicPr>
          <p:cNvPr id="12" name="Content Placeholder 5" descr="UCP_Icon"/>
          <p:cNvPicPr>
            <a:picLocks noChangeAspect="1"/>
          </p:cNvPicPr>
          <p:nvPr/>
        </p:nvPicPr>
        <p:blipFill>
          <a:blip r:embed="rId2"/>
          <a:stretch>
            <a:fillRect/>
          </a:stretch>
        </p:blipFill>
        <p:spPr>
          <a:xfrm>
            <a:off x="10826750" y="177800"/>
            <a:ext cx="1075055" cy="10750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Sprint Backlog (Cont.)</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pic>
        <p:nvPicPr>
          <p:cNvPr id="5" name="Content Placeholder 4"/>
          <p:cNvPicPr>
            <a:picLocks noChangeAspect="1"/>
          </p:cNvPicPr>
          <p:nvPr>
            <p:ph sz="half" idx="1"/>
          </p:nvPr>
        </p:nvPicPr>
        <p:blipFill>
          <a:blip r:embed="rId2"/>
          <a:stretch>
            <a:fillRect/>
          </a:stretch>
        </p:blipFill>
        <p:spPr>
          <a:xfrm>
            <a:off x="838200" y="2266950"/>
            <a:ext cx="4070350" cy="2621280"/>
          </a:xfrm>
          <a:prstGeom prst="rect">
            <a:avLst/>
          </a:prstGeom>
        </p:spPr>
      </p:pic>
      <p:pic>
        <p:nvPicPr>
          <p:cNvPr id="8" name="Picture 7"/>
          <p:cNvPicPr>
            <a:picLocks noChangeAspect="1"/>
          </p:cNvPicPr>
          <p:nvPr/>
        </p:nvPicPr>
        <p:blipFill>
          <a:blip r:embed="rId3"/>
          <a:stretch>
            <a:fillRect/>
          </a:stretch>
        </p:blipFill>
        <p:spPr>
          <a:xfrm>
            <a:off x="5486400" y="2011045"/>
            <a:ext cx="5867400" cy="34671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Sprint Backlog (Cont.)</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p>
            <a:r>
              <a:rPr lang="es-AR" altLang="en-US" b="1"/>
              <a:t>Ejemplo</a:t>
            </a:r>
            <a:endParaRPr lang="es-AR" altLang="en-US"/>
          </a:p>
          <a:p>
            <a:endParaRPr lang="es-AR" altLang="en-US"/>
          </a:p>
          <a:p>
            <a:r>
              <a:rPr lang="es-AR" altLang="en-US" u="sng"/>
              <a:t>Sprint N°1 </a:t>
            </a:r>
            <a:endParaRPr lang="es-AR" altLang="en-US"/>
          </a:p>
          <a:p>
            <a:r>
              <a:rPr lang="es-AR" altLang="en-US" u="sng"/>
              <a:t>Objetivo</a:t>
            </a:r>
            <a:r>
              <a:rPr lang="es-AR" altLang="en-US"/>
              <a:t>: montaje y construcción de un nivel básico del videojuego</a:t>
            </a:r>
            <a:endParaRPr lang="es-AR" altLang="en-US"/>
          </a:p>
          <a:p>
            <a:r>
              <a:rPr lang="es-AR" altLang="en-US" u="sng"/>
              <a:t>Historias de usuario incluidas</a:t>
            </a:r>
            <a:r>
              <a:rPr lang="es-AR" altLang="en-US"/>
              <a:t>:</a:t>
            </a:r>
            <a:endParaRPr lang="es-AR" altLang="en-US"/>
          </a:p>
          <a:p>
            <a:pPr lvl="1"/>
            <a:r>
              <a:rPr lang="es-AR" altLang="en-US"/>
              <a:t>UH 00 - XX</a:t>
            </a:r>
            <a:endParaRPr lang="es-AR" altLang="en-US"/>
          </a:p>
          <a:p>
            <a:pPr lvl="1"/>
            <a:r>
              <a:rPr lang="es-AR" altLang="en-US"/>
              <a:t>UH 01 - XX</a:t>
            </a:r>
            <a:endParaRPr lang="es-AR" altLang="en-US"/>
          </a:p>
          <a:p>
            <a:pPr lvl="0"/>
            <a:r>
              <a:rPr lang="es-AR" altLang="en-US" u="sng"/>
              <a:t>Fecha de finalización</a:t>
            </a:r>
            <a:r>
              <a:rPr lang="es-AR" altLang="en-US"/>
              <a:t>: dd/MM/YYYY</a:t>
            </a:r>
            <a:endParaRPr lang="es-A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Incremento</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sp>
        <p:nvSpPr>
          <p:cNvPr id="3" name="Text Box 2"/>
          <p:cNvSpPr txBox="1"/>
          <p:nvPr/>
        </p:nvSpPr>
        <p:spPr>
          <a:xfrm>
            <a:off x="992505" y="1463675"/>
            <a:ext cx="10641965" cy="4092575"/>
          </a:xfrm>
          <a:prstGeom prst="rect">
            <a:avLst/>
          </a:prstGeom>
          <a:noFill/>
        </p:spPr>
        <p:txBody>
          <a:bodyPr wrap="square" rtlCol="0">
            <a:spAutoFit/>
          </a:bodyPr>
          <a:p>
            <a:pPr marL="342900" indent="-342900" algn="just">
              <a:buFont typeface="Arial" panose="020B0604020202020204" pitchFamily="34" charset="0"/>
              <a:buChar char="•"/>
            </a:pPr>
            <a:r>
              <a:rPr lang="en-US" sz="2000"/>
              <a:t>El </a:t>
            </a:r>
            <a:r>
              <a:rPr lang="en-US" sz="2000" b="1"/>
              <a:t>Incremento </a:t>
            </a:r>
            <a:r>
              <a:rPr lang="en-US" sz="2000"/>
              <a:t>es la suma de todos los elementos de la Lista de Producto completados durante un Sprint y el valor de los incrementos de todos los Sprints anteriores. </a:t>
            </a:r>
            <a:endParaRPr lang="en-US" sz="2000"/>
          </a:p>
          <a:p>
            <a:pPr marL="342900" indent="-342900" algn="just">
              <a:buFont typeface="Arial" panose="020B0604020202020204" pitchFamily="34" charset="0"/>
              <a:buChar char="•"/>
            </a:pPr>
            <a:r>
              <a:rPr lang="en-US" sz="2000"/>
              <a:t>Al final de un Sprint, el nuevo Incremento debe estar “</a:t>
            </a:r>
            <a:r>
              <a:rPr lang="en-US" sz="2000" b="1"/>
              <a:t>Terminado</a:t>
            </a:r>
            <a:r>
              <a:rPr lang="en-US" sz="2000"/>
              <a:t>”, lo cual significa que está en condiciones de ser utilizado y que cumple la Definición de “</a:t>
            </a:r>
            <a:r>
              <a:rPr lang="en-US" sz="2000" b="1"/>
              <a:t>Terminado</a:t>
            </a:r>
            <a:r>
              <a:rPr lang="en-US" sz="2000"/>
              <a:t>” del Equipo Scrum. </a:t>
            </a:r>
            <a:endParaRPr lang="en-US" sz="2000"/>
          </a:p>
          <a:p>
            <a:pPr marL="342900" indent="-342900" algn="just">
              <a:buFont typeface="Arial" panose="020B0604020202020204" pitchFamily="34" charset="0"/>
              <a:buChar char="•"/>
            </a:pPr>
            <a:r>
              <a:rPr lang="en-US" sz="2000"/>
              <a:t>El incremento debe estar en condiciones de utilizarse sin importar si el Dueño de Producto decide liberarlo o no</a:t>
            </a:r>
            <a:r>
              <a:rPr lang="es-AR" altLang="en-US" sz="2000"/>
              <a:t>.</a:t>
            </a:r>
            <a:endParaRPr lang="es-AR" altLang="en-US" sz="2000"/>
          </a:p>
          <a:p>
            <a:pPr marL="342900" indent="-342900" algn="just">
              <a:buFont typeface="Arial" panose="020B0604020202020204" pitchFamily="34" charset="0"/>
              <a:buChar char="•"/>
            </a:pPr>
            <a:endParaRPr lang="es-AR" altLang="en-US" sz="2000"/>
          </a:p>
          <a:p>
            <a:pPr indent="0" algn="just">
              <a:buNone/>
            </a:pPr>
            <a:r>
              <a:rPr lang="es-AR" altLang="en-US" sz="2000" b="1"/>
              <a:t>Definición de Terminado “Definition of done”</a:t>
            </a:r>
            <a:endParaRPr lang="es-AR" altLang="en-US" sz="2000"/>
          </a:p>
          <a:p>
            <a:pPr marL="342900" indent="-342900" algn="just">
              <a:buFont typeface="Arial" panose="020B0604020202020204" pitchFamily="34" charset="0"/>
              <a:buChar char="•"/>
            </a:pPr>
            <a:r>
              <a:rPr lang="es-AR" altLang="en-US" sz="2000"/>
              <a:t>Es una definición que debe tomar el equipo de SCRUM para indicar que se ha terminado un incremento. Su fijación es un proceso conjunto y compartido por los miembros del equipo, que se va enriqueciendo con la experiencia. </a:t>
            </a:r>
            <a:endParaRPr lang="es-AR" altLang="en-US" sz="2000"/>
          </a:p>
          <a:p>
            <a:pPr marL="342900" indent="-342900" algn="just">
              <a:buFont typeface="Arial" panose="020B0604020202020204" pitchFamily="34" charset="0"/>
              <a:buChar char="•"/>
            </a:pPr>
            <a:r>
              <a:rPr lang="es-AR" altLang="en-US" sz="2000"/>
              <a:t>El Incremento es el resultado del Sprint, lo que agregar valor al producto. </a:t>
            </a:r>
            <a:endParaRPr lang="es-AR" altLang="en-US" sz="2000"/>
          </a:p>
          <a:p>
            <a:pPr marL="342900" indent="-342900" algn="just">
              <a:buFont typeface="Arial" panose="020B0604020202020204" pitchFamily="34" charset="0"/>
              <a:buChar char="•"/>
            </a:pPr>
            <a:r>
              <a:rPr lang="es-AR" altLang="en-US" sz="2000"/>
              <a:t>A medida que se avanza en el desarrollo, cada incremento suma valor al producto.</a:t>
            </a:r>
            <a:endParaRPr lang="es-AR" altLang="en-US" sz="2000"/>
          </a:p>
        </p:txBody>
      </p:sp>
      <p:pic>
        <p:nvPicPr>
          <p:cNvPr id="5" name="Picture 4"/>
          <p:cNvPicPr>
            <a:picLocks noChangeAspect="1"/>
          </p:cNvPicPr>
          <p:nvPr/>
        </p:nvPicPr>
        <p:blipFill>
          <a:blip r:embed="rId2"/>
          <a:stretch>
            <a:fillRect/>
          </a:stretch>
        </p:blipFill>
        <p:spPr>
          <a:xfrm>
            <a:off x="10262870" y="4727575"/>
            <a:ext cx="1320165" cy="16408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Artefactos: Incremento</a:t>
            </a:r>
            <a:endParaRPr lang="es-AR" altLang="en-US"/>
          </a:p>
        </p:txBody>
      </p:sp>
      <p:pic>
        <p:nvPicPr>
          <p:cNvPr id="6" name="Content Placeholder 5" descr="UCP_Icon"/>
          <p:cNvPicPr>
            <a:picLocks noChangeAspect="1"/>
          </p:cNvPicPr>
          <p:nvPr>
            <p:ph sz="half" idx="1"/>
          </p:nvPr>
        </p:nvPicPr>
        <p:blipFill>
          <a:blip r:embed="rId1"/>
          <a:stretch>
            <a:fillRect/>
          </a:stretch>
        </p:blipFill>
        <p:spPr>
          <a:xfrm>
            <a:off x="10817225" y="214630"/>
            <a:ext cx="905510" cy="905510"/>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8" name="Picture 7"/>
          <p:cNvPicPr>
            <a:picLocks noChangeAspect="1"/>
          </p:cNvPicPr>
          <p:nvPr/>
        </p:nvPicPr>
        <p:blipFill>
          <a:blip r:embed="rId2"/>
          <a:stretch>
            <a:fillRect/>
          </a:stretch>
        </p:blipFill>
        <p:spPr>
          <a:xfrm>
            <a:off x="1151890" y="1691005"/>
            <a:ext cx="5828665" cy="3280410"/>
          </a:xfrm>
          <a:prstGeom prst="rect">
            <a:avLst/>
          </a:prstGeom>
        </p:spPr>
      </p:pic>
      <p:pic>
        <p:nvPicPr>
          <p:cNvPr id="9" name="Content Placeholder 8"/>
          <p:cNvPicPr>
            <a:picLocks noChangeAspect="1"/>
          </p:cNvPicPr>
          <p:nvPr>
            <p:ph sz="half" idx="2"/>
          </p:nvPr>
        </p:nvPicPr>
        <p:blipFill>
          <a:blip r:embed="rId3"/>
          <a:stretch>
            <a:fillRect/>
          </a:stretch>
        </p:blipFill>
        <p:spPr>
          <a:xfrm>
            <a:off x="6312535" y="2981960"/>
            <a:ext cx="4810125" cy="29241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Artefactos + Proceso</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3" name="Picture 2" descr="654651"/>
          <p:cNvPicPr>
            <a:picLocks noChangeAspect="1"/>
          </p:cNvPicPr>
          <p:nvPr/>
        </p:nvPicPr>
        <p:blipFill>
          <a:blip r:embed="rId2"/>
          <a:stretch>
            <a:fillRect/>
          </a:stretch>
        </p:blipFill>
        <p:spPr>
          <a:xfrm>
            <a:off x="2021840" y="1691005"/>
            <a:ext cx="7877175" cy="4552950"/>
          </a:xfrm>
          <a:prstGeom prst="rect">
            <a:avLst/>
          </a:prstGeom>
        </p:spPr>
      </p:pic>
      <p:sp>
        <p:nvSpPr>
          <p:cNvPr id="5" name="Rectangle 4"/>
          <p:cNvSpPr/>
          <p:nvPr/>
        </p:nvSpPr>
        <p:spPr>
          <a:xfrm>
            <a:off x="2603500" y="2291715"/>
            <a:ext cx="3100070" cy="2679065"/>
          </a:xfrm>
          <a:prstGeom prst="rect">
            <a:avLst/>
          </a:prstGeom>
          <a:noFill/>
          <a:ln w="571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Rectangle 7"/>
          <p:cNvSpPr/>
          <p:nvPr/>
        </p:nvSpPr>
        <p:spPr>
          <a:xfrm>
            <a:off x="8253730" y="3668395"/>
            <a:ext cx="1645285" cy="1445260"/>
          </a:xfrm>
          <a:prstGeom prst="rect">
            <a:avLst/>
          </a:prstGeom>
          <a:noFill/>
          <a:ln w="571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9" name="Text Box 8"/>
          <p:cNvSpPr txBox="1"/>
          <p:nvPr/>
        </p:nvSpPr>
        <p:spPr>
          <a:xfrm>
            <a:off x="6456680" y="5628005"/>
            <a:ext cx="4951730" cy="829945"/>
          </a:xfrm>
          <a:prstGeom prst="rect">
            <a:avLst/>
          </a:prstGeom>
          <a:noFill/>
        </p:spPr>
        <p:txBody>
          <a:bodyPr wrap="square" rtlCol="0">
            <a:spAutoFit/>
          </a:bodyPr>
          <a:p>
            <a:pPr algn="ctr"/>
            <a:r>
              <a:rPr lang="es-AR" altLang="en-US" sz="2400" b="1"/>
              <a:t>¿Cuáles eran los artefactos del proceso Scrum?</a:t>
            </a:r>
            <a:endParaRPr lang="es-AR" altLang="en-US" sz="2400"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Conceptos Clave -&gt; Ceremonias</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2676525"/>
          </a:xfrm>
          <a:prstGeom prst="rect">
            <a:avLst/>
          </a:prstGeom>
          <a:noFill/>
        </p:spPr>
        <p:txBody>
          <a:bodyPr wrap="square" rtlCol="0">
            <a:spAutoFit/>
          </a:bodyPr>
          <a:p>
            <a:pPr algn="just"/>
            <a:r>
              <a:rPr lang="es-AR" altLang="en-US" sz="2400"/>
              <a:t>Los conceptos clave que debemos comprender, para aplicar la metodología en los proyectos son los siguientes:</a:t>
            </a:r>
            <a:endParaRPr lang="es-AR" altLang="en-US" sz="2400"/>
          </a:p>
          <a:p>
            <a:pPr marL="342900" indent="-342900" algn="just">
              <a:buFont typeface="Arial" panose="020B0604020202020204" pitchFamily="34" charset="0"/>
              <a:buChar char="•"/>
            </a:pPr>
            <a:r>
              <a:rPr lang="es-AR" altLang="en-US" sz="2400" b="1"/>
              <a:t>Principios (mencionados en slides anteriores).</a:t>
            </a:r>
            <a:endParaRPr lang="es-AR" altLang="en-US" sz="2400" b="1"/>
          </a:p>
          <a:p>
            <a:pPr marL="342900" indent="-342900" algn="just">
              <a:buFont typeface="Arial" panose="020B0604020202020204" pitchFamily="34" charset="0"/>
              <a:buChar char="•"/>
            </a:pPr>
            <a:r>
              <a:rPr lang="es-AR" altLang="en-US" sz="2400" b="1"/>
              <a:t>Artefactos de Scrum.</a:t>
            </a:r>
            <a:endParaRPr lang="es-AR" altLang="en-US" sz="2400" b="1"/>
          </a:p>
          <a:p>
            <a:pPr marL="342900" indent="-342900" algn="just">
              <a:buFont typeface="Arial" panose="020B0604020202020204" pitchFamily="34" charset="0"/>
              <a:buChar char="•"/>
            </a:pPr>
            <a:r>
              <a:rPr lang="es-AR" altLang="en-US" sz="2400" b="1"/>
              <a:t>Eventos o Ceremonias de Scrum.</a:t>
            </a:r>
            <a:endParaRPr lang="es-AR" altLang="en-US" sz="2400" b="1"/>
          </a:p>
          <a:p>
            <a:pPr marL="342900" indent="-342900" algn="just">
              <a:buFont typeface="Arial" panose="020B0604020202020204" pitchFamily="34" charset="0"/>
              <a:buChar char="•"/>
            </a:pPr>
            <a:r>
              <a:rPr lang="es-AR" altLang="en-US" sz="2400" b="1"/>
              <a:t>Equipo Scrum.</a:t>
            </a:r>
            <a:endParaRPr lang="es-AR" altLang="en-US" sz="2400"/>
          </a:p>
          <a:p>
            <a:pPr algn="just"/>
            <a:endParaRPr lang="es-AR" altLang="en-US" sz="2400"/>
          </a:p>
        </p:txBody>
      </p:sp>
      <p:graphicFrame>
        <p:nvGraphicFramePr>
          <p:cNvPr id="5" name="Table 4"/>
          <p:cNvGraphicFramePr/>
          <p:nvPr/>
        </p:nvGraphicFramePr>
        <p:xfrm>
          <a:off x="965200" y="4260850"/>
          <a:ext cx="2301875" cy="2313305"/>
        </p:xfrm>
        <a:graphic>
          <a:graphicData uri="http://schemas.openxmlformats.org/drawingml/2006/table">
            <a:tbl>
              <a:tblPr firstRow="1" bandRow="1">
                <a:tableStyleId>{5C22544A-7EE6-4342-B048-85BDC9FD1C3A}</a:tableStyleId>
              </a:tblPr>
              <a:tblGrid>
                <a:gridCol w="2301875"/>
              </a:tblGrid>
              <a:tr h="615950">
                <a:tc>
                  <a:txBody>
                    <a:bodyPr/>
                    <a:p>
                      <a:pPr algn="ctr">
                        <a:buNone/>
                      </a:pPr>
                      <a:r>
                        <a:rPr lang="es-AR" altLang="en-US"/>
                        <a:t>Principios</a:t>
                      </a:r>
                      <a:endParaRPr lang="es-AR" altLang="en-US"/>
                    </a:p>
                  </a:txBody>
                  <a:tcPr/>
                </a:tc>
              </a:tr>
              <a:tr h="1697355">
                <a:tc>
                  <a:txBody>
                    <a:bodyPr/>
                    <a:p>
                      <a:pPr marL="285750" indent="-285750">
                        <a:buFont typeface="Arial" panose="020B0604020202020204" pitchFamily="34" charset="0"/>
                        <a:buChar char="•"/>
                      </a:pPr>
                      <a:r>
                        <a:rPr lang="es-AR" altLang="en-US"/>
                        <a:t>Transparencia.</a:t>
                      </a:r>
                      <a:endParaRPr lang="es-AR" altLang="en-US"/>
                    </a:p>
                    <a:p>
                      <a:pPr marL="285750" indent="-285750">
                        <a:buFont typeface="Arial" panose="020B0604020202020204" pitchFamily="34" charset="0"/>
                        <a:buChar char="•"/>
                      </a:pPr>
                      <a:r>
                        <a:rPr lang="es-AR" altLang="en-US"/>
                        <a:t>Inspección.</a:t>
                      </a:r>
                      <a:endParaRPr lang="es-AR" altLang="en-US"/>
                    </a:p>
                    <a:p>
                      <a:pPr marL="285750" indent="-285750">
                        <a:buFont typeface="Arial" panose="020B0604020202020204" pitchFamily="34" charset="0"/>
                        <a:buChar char="•"/>
                      </a:pPr>
                      <a:r>
                        <a:rPr lang="es-AR" altLang="en-US"/>
                        <a:t>Adaptación.</a:t>
                      </a:r>
                      <a:endParaRPr lang="es-AR" altLang="en-US"/>
                    </a:p>
                  </a:txBody>
                  <a:tcPr/>
                </a:tc>
              </a:tr>
            </a:tbl>
          </a:graphicData>
        </a:graphic>
      </p:graphicFrame>
      <p:graphicFrame>
        <p:nvGraphicFramePr>
          <p:cNvPr id="8" name="Table 7"/>
          <p:cNvGraphicFramePr/>
          <p:nvPr/>
        </p:nvGraphicFramePr>
        <p:xfrm>
          <a:off x="3862070" y="4260850"/>
          <a:ext cx="2301875" cy="2312035"/>
        </p:xfrm>
        <a:graphic>
          <a:graphicData uri="http://schemas.openxmlformats.org/drawingml/2006/table">
            <a:tbl>
              <a:tblPr firstRow="1" bandRow="1">
                <a:tableStyleId>{5C22544A-7EE6-4342-B048-85BDC9FD1C3A}</a:tableStyleId>
              </a:tblPr>
              <a:tblGrid>
                <a:gridCol w="2301875"/>
              </a:tblGrid>
              <a:tr h="649605">
                <a:tc>
                  <a:txBody>
                    <a:bodyPr/>
                    <a:p>
                      <a:pPr algn="ctr">
                        <a:buNone/>
                      </a:pPr>
                      <a:r>
                        <a:rPr lang="es-AR" altLang="en-US"/>
                        <a:t>Artefactos</a:t>
                      </a:r>
                      <a:endParaRPr lang="es-AR" altLang="en-US"/>
                    </a:p>
                  </a:txBody>
                  <a:tcPr>
                    <a:solidFill>
                      <a:schemeClr val="accent1"/>
                    </a:solidFill>
                  </a:tcPr>
                </a:tc>
              </a:tr>
              <a:tr h="1662430">
                <a:tc>
                  <a:txBody>
                    <a:bodyPr/>
                    <a:p>
                      <a:pPr marL="285750" indent="-285750">
                        <a:buFont typeface="Arial" panose="020B0604020202020204" pitchFamily="34" charset="0"/>
                        <a:buChar char="•"/>
                      </a:pPr>
                      <a:r>
                        <a:rPr lang="es-AR" altLang="en-US" sz="1800">
                          <a:sym typeface="+mn-ea"/>
                        </a:rPr>
                        <a:t>User Story.</a:t>
                      </a:r>
                      <a:endParaRPr lang="es-AR" altLang="en-US"/>
                    </a:p>
                    <a:p>
                      <a:pPr marL="285750" indent="-285750">
                        <a:buFont typeface="Arial" panose="020B0604020202020204" pitchFamily="34" charset="0"/>
                        <a:buChar char="•"/>
                      </a:pPr>
                      <a:r>
                        <a:rPr lang="es-AR" altLang="en-US"/>
                        <a:t>Product Backlog.</a:t>
                      </a:r>
                      <a:endParaRPr lang="es-AR" altLang="en-US"/>
                    </a:p>
                    <a:p>
                      <a:pPr marL="285750" indent="-285750">
                        <a:buFont typeface="Arial" panose="020B0604020202020204" pitchFamily="34" charset="0"/>
                        <a:buChar char="•"/>
                      </a:pPr>
                      <a:r>
                        <a:rPr lang="es-AR" altLang="en-US"/>
                        <a:t>Sprint Backlog.</a:t>
                      </a:r>
                      <a:endParaRPr lang="es-AR" altLang="en-US"/>
                    </a:p>
                    <a:p>
                      <a:pPr marL="285750" indent="-285750">
                        <a:buFont typeface="Arial" panose="020B0604020202020204" pitchFamily="34" charset="0"/>
                        <a:buChar char="•"/>
                      </a:pPr>
                      <a:r>
                        <a:rPr lang="es-AR" altLang="en-US"/>
                        <a:t>Incremento.</a:t>
                      </a:r>
                      <a:endParaRPr lang="es-AR" altLang="en-US"/>
                    </a:p>
                    <a:p>
                      <a:pPr marL="285750" indent="-285750">
                        <a:buFont typeface="Arial" panose="020B0604020202020204" pitchFamily="34" charset="0"/>
                        <a:buChar char="•"/>
                      </a:pPr>
                      <a:r>
                        <a:rPr lang="es-AR" altLang="en-US"/>
                        <a:t>Boards (opcionales).</a:t>
                      </a:r>
                      <a:endParaRPr lang="es-AR" altLang="en-US"/>
                    </a:p>
                  </a:txBody>
                  <a:tcPr>
                    <a:solidFill>
                      <a:schemeClr val="accent1">
                        <a:lumMod val="20000"/>
                        <a:lumOff val="80000"/>
                      </a:schemeClr>
                    </a:solidFill>
                  </a:tcPr>
                </a:tc>
              </a:tr>
            </a:tbl>
          </a:graphicData>
        </a:graphic>
      </p:graphicFrame>
      <p:graphicFrame>
        <p:nvGraphicFramePr>
          <p:cNvPr id="9" name="Table 8"/>
          <p:cNvGraphicFramePr/>
          <p:nvPr/>
        </p:nvGraphicFramePr>
        <p:xfrm>
          <a:off x="6480810" y="4260850"/>
          <a:ext cx="2459355" cy="2312670"/>
        </p:xfrm>
        <a:graphic>
          <a:graphicData uri="http://schemas.openxmlformats.org/drawingml/2006/table">
            <a:tbl>
              <a:tblPr firstRow="1" bandRow="1">
                <a:tableStyleId>{5C22544A-7EE6-4342-B048-85BDC9FD1C3A}</a:tableStyleId>
              </a:tblPr>
              <a:tblGrid>
                <a:gridCol w="2459355"/>
              </a:tblGrid>
              <a:tr h="734060">
                <a:tc>
                  <a:txBody>
                    <a:bodyPr/>
                    <a:p>
                      <a:pPr algn="ctr">
                        <a:buNone/>
                      </a:pPr>
                      <a:r>
                        <a:rPr lang="es-AR" altLang="en-US"/>
                        <a:t>Ceremonias</a:t>
                      </a:r>
                      <a:endParaRPr lang="es-AR" altLang="en-US"/>
                    </a:p>
                  </a:txBody>
                  <a:tcPr>
                    <a:solidFill>
                      <a:schemeClr val="tx1"/>
                    </a:solidFill>
                  </a:tcPr>
                </a:tc>
              </a:tr>
              <a:tr h="1578610">
                <a:tc>
                  <a:txBody>
                    <a:bodyPr/>
                    <a:p>
                      <a:pPr marL="285750" indent="-285750">
                        <a:buFont typeface="Arial" panose="020B0604020202020204" pitchFamily="34" charset="0"/>
                        <a:buChar char="•"/>
                      </a:pPr>
                      <a:r>
                        <a:rPr lang="es-AR" altLang="en-US"/>
                        <a:t>Sprint.</a:t>
                      </a:r>
                      <a:endParaRPr lang="es-AR" altLang="en-US"/>
                    </a:p>
                    <a:p>
                      <a:pPr marL="285750" indent="-285750">
                        <a:buFont typeface="Arial" panose="020B0604020202020204" pitchFamily="34" charset="0"/>
                        <a:buChar char="•"/>
                      </a:pPr>
                      <a:r>
                        <a:rPr lang="es-AR" altLang="en-US"/>
                        <a:t>Sprint Planning.</a:t>
                      </a:r>
                      <a:endParaRPr lang="es-AR" altLang="en-US"/>
                    </a:p>
                    <a:p>
                      <a:pPr marL="285750" indent="-285750">
                        <a:buFont typeface="Arial" panose="020B0604020202020204" pitchFamily="34" charset="0"/>
                        <a:buChar char="•"/>
                      </a:pPr>
                      <a:r>
                        <a:rPr lang="es-AR" altLang="en-US"/>
                        <a:t>Sprint Goal.</a:t>
                      </a:r>
                      <a:endParaRPr lang="es-AR" altLang="en-US"/>
                    </a:p>
                    <a:p>
                      <a:pPr marL="285750" indent="-285750">
                        <a:buFont typeface="Arial" panose="020B0604020202020204" pitchFamily="34" charset="0"/>
                        <a:buChar char="•"/>
                      </a:pPr>
                      <a:r>
                        <a:rPr lang="es-AR" altLang="en-US"/>
                        <a:t>Scrum Daily.</a:t>
                      </a:r>
                      <a:endParaRPr lang="es-AR" altLang="en-US"/>
                    </a:p>
                    <a:p>
                      <a:pPr marL="285750" indent="-285750">
                        <a:buFont typeface="Arial" panose="020B0604020202020204" pitchFamily="34" charset="0"/>
                        <a:buChar char="•"/>
                      </a:pPr>
                      <a:r>
                        <a:rPr lang="es-AR" altLang="en-US"/>
                        <a:t>Sprint Review.</a:t>
                      </a:r>
                      <a:endParaRPr lang="es-AR" altLang="en-US"/>
                    </a:p>
                    <a:p>
                      <a:pPr marL="285750" indent="-285750">
                        <a:buFont typeface="Arial" panose="020B0604020202020204" pitchFamily="34" charset="0"/>
                        <a:buChar char="•"/>
                      </a:pPr>
                      <a:r>
                        <a:rPr lang="es-AR" altLang="en-US"/>
                        <a:t>Sprint Retrospective.</a:t>
                      </a:r>
                      <a:endParaRPr lang="es-AR" altLang="en-US"/>
                    </a:p>
                  </a:txBody>
                  <a:tcPr>
                    <a:solidFill>
                      <a:schemeClr val="bg2">
                        <a:lumMod val="90000"/>
                      </a:schemeClr>
                    </a:solidFill>
                  </a:tcPr>
                </a:tc>
              </a:tr>
            </a:tbl>
          </a:graphicData>
        </a:graphic>
      </p:graphicFrame>
      <p:graphicFrame>
        <p:nvGraphicFramePr>
          <p:cNvPr id="10" name="Table 9"/>
          <p:cNvGraphicFramePr/>
          <p:nvPr/>
        </p:nvGraphicFramePr>
        <p:xfrm>
          <a:off x="9257030" y="4260850"/>
          <a:ext cx="2301875" cy="2312035"/>
        </p:xfrm>
        <a:graphic>
          <a:graphicData uri="http://schemas.openxmlformats.org/drawingml/2006/table">
            <a:tbl>
              <a:tblPr firstRow="1" bandRow="1">
                <a:tableStyleId>{5C22544A-7EE6-4342-B048-85BDC9FD1C3A}</a:tableStyleId>
              </a:tblPr>
              <a:tblGrid>
                <a:gridCol w="2301875"/>
              </a:tblGrid>
              <a:tr h="777875">
                <a:tc>
                  <a:txBody>
                    <a:bodyPr/>
                    <a:p>
                      <a:pPr algn="ctr">
                        <a:buNone/>
                      </a:pPr>
                      <a:r>
                        <a:rPr lang="es-AR" altLang="en-US"/>
                        <a:t>Equipo SCRUM</a:t>
                      </a:r>
                      <a:endParaRPr lang="es-AR" altLang="en-US"/>
                    </a:p>
                  </a:txBody>
                  <a:tcPr/>
                </a:tc>
              </a:tr>
              <a:tr h="1534160">
                <a:tc>
                  <a:txBody>
                    <a:bodyPr/>
                    <a:p>
                      <a:pPr marL="285750" indent="-285750">
                        <a:buFont typeface="Arial" panose="020B0604020202020204" pitchFamily="34" charset="0"/>
                        <a:buChar char="•"/>
                      </a:pPr>
                      <a:r>
                        <a:rPr lang="es-AR" altLang="en-US"/>
                        <a:t>Product Owner.</a:t>
                      </a:r>
                      <a:endParaRPr lang="es-AR" altLang="en-US"/>
                    </a:p>
                    <a:p>
                      <a:pPr marL="285750" indent="-285750">
                        <a:buFont typeface="Arial" panose="020B0604020202020204" pitchFamily="34" charset="0"/>
                        <a:buChar char="•"/>
                      </a:pPr>
                      <a:r>
                        <a:rPr lang="es-AR" altLang="en-US"/>
                        <a:t>Scrum Master.</a:t>
                      </a:r>
                      <a:endParaRPr lang="es-AR" altLang="en-US"/>
                    </a:p>
                    <a:p>
                      <a:pPr marL="285750" indent="-285750">
                        <a:buFont typeface="Arial" panose="020B0604020202020204" pitchFamily="34" charset="0"/>
                        <a:buChar char="•"/>
                      </a:pPr>
                      <a:r>
                        <a:rPr lang="es-AR" altLang="en-US"/>
                        <a:t>Team.</a:t>
                      </a:r>
                      <a:endParaRPr lang="es-AR" altLang="en-US"/>
                    </a:p>
                  </a:txBody>
                  <a:tcPr/>
                </a:tc>
              </a:tr>
            </a:tbl>
          </a:graphicData>
        </a:graphic>
      </p:graphicFrame>
      <p:sp>
        <p:nvSpPr>
          <p:cNvPr id="3" name="Rectangle 2"/>
          <p:cNvSpPr/>
          <p:nvPr/>
        </p:nvSpPr>
        <p:spPr>
          <a:xfrm>
            <a:off x="6313805" y="4067810"/>
            <a:ext cx="2739390" cy="2739390"/>
          </a:xfrm>
          <a:prstGeom prst="rect">
            <a:avLst/>
          </a:prstGeom>
          <a:noFill/>
          <a:ln w="412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Ceremonias</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noAutofit/>
          </a:bodyPr>
          <a:p>
            <a:pPr algn="just"/>
            <a:r>
              <a:rPr lang="es-AR" altLang="en-US" sz="2000"/>
              <a:t>SCRUM propone una serie de eventos, a llevar a cabo para lograr regularidad en el equipo. Estos eventos, se los conoce como "</a:t>
            </a:r>
            <a:r>
              <a:rPr lang="es-AR" altLang="en-US" sz="2000" b="1"/>
              <a:t>ceremonias</a:t>
            </a:r>
            <a:r>
              <a:rPr lang="es-AR" altLang="en-US" sz="2000"/>
              <a:t>" y presentan una característica que es </a:t>
            </a:r>
            <a:r>
              <a:rPr lang="es-AR" altLang="en-US" sz="2000" b="1" u="sng"/>
              <a:t>time-boxes</a:t>
            </a:r>
            <a:r>
              <a:rPr lang="es-AR" altLang="en-US" sz="2000"/>
              <a:t>. Es decir, tienen una duración máxima, que no podrá acortarse o alargarce.</a:t>
            </a:r>
            <a:endParaRPr lang="es-AR" altLang="en-US" sz="2000"/>
          </a:p>
          <a:p>
            <a:pPr algn="just"/>
            <a:r>
              <a:rPr lang="es-AR" altLang="en-US" sz="2000"/>
              <a:t>El objetivo es reducir el desperdicio del proceso, y existen varios eventos que se explican a continuación:</a:t>
            </a:r>
            <a:endParaRPr lang="es-AR" altLang="en-US" sz="2000"/>
          </a:p>
          <a:p>
            <a:pPr marL="0" indent="0" algn="just">
              <a:buNone/>
            </a:pPr>
            <a:endParaRPr lang="es-AR" altLang="en-US" sz="2000"/>
          </a:p>
        </p:txBody>
      </p:sp>
      <p:sp>
        <p:nvSpPr>
          <p:cNvPr id="13" name="Rounded Rectangle 12"/>
          <p:cNvSpPr/>
          <p:nvPr/>
        </p:nvSpPr>
        <p:spPr>
          <a:xfrm>
            <a:off x="2294255" y="3449320"/>
            <a:ext cx="2879725" cy="82042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r>
              <a:rPr lang="es-AR" altLang="en-US"/>
              <a:t>Sprint</a:t>
            </a:r>
            <a:endParaRPr lang="es-AR" altLang="en-US"/>
          </a:p>
        </p:txBody>
      </p:sp>
      <p:sp>
        <p:nvSpPr>
          <p:cNvPr id="14" name="Rounded Rectangle 13"/>
          <p:cNvSpPr/>
          <p:nvPr/>
        </p:nvSpPr>
        <p:spPr>
          <a:xfrm>
            <a:off x="2294255" y="4591685"/>
            <a:ext cx="2879725" cy="82042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p>
            <a:pPr algn="ctr"/>
            <a:r>
              <a:rPr lang="es-AR" altLang="en-US"/>
              <a:t>Sprint Planning</a:t>
            </a:r>
            <a:endParaRPr lang="es-AR" altLang="en-US"/>
          </a:p>
        </p:txBody>
      </p:sp>
      <p:sp>
        <p:nvSpPr>
          <p:cNvPr id="15" name="Rounded Rectangle 14"/>
          <p:cNvSpPr/>
          <p:nvPr/>
        </p:nvSpPr>
        <p:spPr>
          <a:xfrm>
            <a:off x="2294255" y="5709285"/>
            <a:ext cx="2879725" cy="8204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es-AR" altLang="en-US"/>
              <a:t>Sprint Goal</a:t>
            </a:r>
            <a:endParaRPr lang="es-AR" altLang="en-US"/>
          </a:p>
        </p:txBody>
      </p:sp>
      <p:sp>
        <p:nvSpPr>
          <p:cNvPr id="16" name="Rounded Rectangle 15"/>
          <p:cNvSpPr/>
          <p:nvPr/>
        </p:nvSpPr>
        <p:spPr>
          <a:xfrm>
            <a:off x="6064885" y="3425825"/>
            <a:ext cx="2879725" cy="82042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s-AR" altLang="en-US"/>
              <a:t>Sprint Daily</a:t>
            </a:r>
            <a:endParaRPr lang="es-AR" altLang="en-US"/>
          </a:p>
        </p:txBody>
      </p:sp>
      <p:sp>
        <p:nvSpPr>
          <p:cNvPr id="17" name="Rounded Rectangle 16"/>
          <p:cNvSpPr/>
          <p:nvPr/>
        </p:nvSpPr>
        <p:spPr>
          <a:xfrm>
            <a:off x="6064885" y="4591685"/>
            <a:ext cx="2879725" cy="82042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s-AR" altLang="en-US"/>
              <a:t>Sprint Review</a:t>
            </a:r>
            <a:endParaRPr lang="es-AR" altLang="en-US"/>
          </a:p>
        </p:txBody>
      </p:sp>
      <p:sp>
        <p:nvSpPr>
          <p:cNvPr id="18" name="Rounded Rectangle 17"/>
          <p:cNvSpPr/>
          <p:nvPr/>
        </p:nvSpPr>
        <p:spPr>
          <a:xfrm>
            <a:off x="6064885" y="5709285"/>
            <a:ext cx="2879725" cy="82042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p>
            <a:pPr algn="ctr"/>
            <a:r>
              <a:rPr lang="es-AR" altLang="en-US"/>
              <a:t>Sprint Retrospective</a:t>
            </a:r>
            <a:endParaRPr lang="es-A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Ceremonias: Sprint</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noAutofit/>
          </a:bodyPr>
          <a:p>
            <a:pPr algn="just"/>
            <a:r>
              <a:rPr lang="es-AR" altLang="en-US" sz="2000"/>
              <a:t>El </a:t>
            </a:r>
            <a:r>
              <a:rPr lang="es-AR" altLang="en-US" sz="2000" b="1"/>
              <a:t>Sprint </a:t>
            </a:r>
            <a:r>
              <a:rPr lang="es-AR" altLang="en-US" sz="2000"/>
              <a:t>es el núcleo base de ceremonias de Scrum.</a:t>
            </a:r>
            <a:r>
              <a:rPr lang="es-AR" altLang="en-US" sz="2000" i="1"/>
              <a:t> Se trata de un evento de duración fija, de aproximadamente 1 mes, o al menos mayor de 2 semanas, donde el equipo trabaja para implementar las UH que fueron incluidas en el Sprint Backlog</a:t>
            </a:r>
            <a:r>
              <a:rPr lang="es-AR" altLang="en-US" sz="2000"/>
              <a:t>.</a:t>
            </a:r>
            <a:endParaRPr lang="es-AR" altLang="en-US" sz="2000"/>
          </a:p>
          <a:p>
            <a:pPr algn="just"/>
            <a:r>
              <a:rPr lang="es-AR" altLang="en-US" sz="2000"/>
              <a:t>Su objetivo es obtener un I</a:t>
            </a:r>
            <a:r>
              <a:rPr lang="es-AR" altLang="en-US" sz="2000" b="1"/>
              <a:t>ncremento</a:t>
            </a:r>
            <a:r>
              <a:rPr lang="es-AR" altLang="en-US" sz="2000"/>
              <a:t>, y el conjunto de las historias de usuario incluidas no puede modificarse, superada su planificación. El equipo se compromete a trabajar y lograr la implementación del Sprint Backlog en dicho periodo de tiempo.</a:t>
            </a:r>
            <a:endParaRPr lang="es-AR" altLang="en-US" sz="2000"/>
          </a:p>
          <a:p>
            <a:pPr algn="just"/>
            <a:r>
              <a:rPr lang="es-AR" altLang="en-US" sz="2000"/>
              <a:t>Cada Sprint tiene una definición de qué se va a construir, un diseño y un plan flexible que guiará la construcción y el trabajo y el producto resultante.</a:t>
            </a:r>
            <a:endParaRPr lang="es-AR" altLang="en-US" sz="2000"/>
          </a:p>
        </p:txBody>
      </p:sp>
      <p:graphicFrame>
        <p:nvGraphicFramePr>
          <p:cNvPr id="5" name="Table 4"/>
          <p:cNvGraphicFramePr/>
          <p:nvPr/>
        </p:nvGraphicFramePr>
        <p:xfrm>
          <a:off x="1287145" y="4352925"/>
          <a:ext cx="2106930" cy="1465580"/>
        </p:xfrm>
        <a:graphic>
          <a:graphicData uri="http://schemas.openxmlformats.org/drawingml/2006/table">
            <a:tbl>
              <a:tblPr firstRow="1" bandRow="1">
                <a:tableStyleId>{5C22544A-7EE6-4342-B048-85BDC9FD1C3A}</a:tableStyleId>
              </a:tblPr>
              <a:tblGrid>
                <a:gridCol w="2106930"/>
              </a:tblGrid>
              <a:tr h="366395">
                <a:tc>
                  <a:txBody>
                    <a:bodyPr/>
                    <a:p>
                      <a:pPr algn="ctr">
                        <a:buNone/>
                      </a:pPr>
                      <a:r>
                        <a:rPr lang="es-AR" altLang="en-US" b="0">
                          <a:solidFill>
                            <a:schemeClr val="tx1"/>
                          </a:solidFill>
                        </a:rPr>
                        <a:t>UH1</a:t>
                      </a:r>
                      <a:endParaRPr lang="es-AR"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66395">
                <a:tc>
                  <a:txBody>
                    <a:bodyPr/>
                    <a:p>
                      <a:pPr algn="ctr">
                        <a:buNone/>
                      </a:pPr>
                      <a:r>
                        <a:rPr lang="es-AR" altLang="en-US">
                          <a:solidFill>
                            <a:schemeClr val="tx1"/>
                          </a:solidFill>
                        </a:rPr>
                        <a:t>UH2</a:t>
                      </a:r>
                      <a:endParaRPr lang="es-AR" altLang="en-US">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66395">
                <a:tc>
                  <a:txBody>
                    <a:bodyPr/>
                    <a:p>
                      <a:pPr algn="ctr">
                        <a:buNone/>
                      </a:pPr>
                      <a:r>
                        <a:rPr lang="es-AR" altLang="en-US">
                          <a:solidFill>
                            <a:schemeClr val="tx1"/>
                          </a:solidFill>
                        </a:rPr>
                        <a:t>...</a:t>
                      </a:r>
                      <a:endParaRPr lang="es-AR" altLang="en-US">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66395">
                <a:tc>
                  <a:txBody>
                    <a:bodyPr/>
                    <a:p>
                      <a:pPr algn="ctr">
                        <a:buNone/>
                      </a:pPr>
                      <a:r>
                        <a:rPr lang="es-AR" altLang="en-US">
                          <a:solidFill>
                            <a:schemeClr val="tx1"/>
                          </a:solidFill>
                        </a:rPr>
                        <a:t>UHN</a:t>
                      </a:r>
                      <a:endParaRPr lang="es-AR" altLang="en-US">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6" name="Table 5"/>
          <p:cNvGraphicFramePr/>
          <p:nvPr/>
        </p:nvGraphicFramePr>
        <p:xfrm>
          <a:off x="4617720" y="5168900"/>
          <a:ext cx="3416300" cy="547370"/>
        </p:xfrm>
        <a:graphic>
          <a:graphicData uri="http://schemas.openxmlformats.org/drawingml/2006/table">
            <a:tbl>
              <a:tblPr firstRow="1" bandRow="1">
                <a:tableStyleId>{5C22544A-7EE6-4342-B048-85BDC9FD1C3A}</a:tableStyleId>
              </a:tblPr>
              <a:tblGrid>
                <a:gridCol w="3416300"/>
              </a:tblGrid>
              <a:tr h="547370">
                <a:tc>
                  <a:txBody>
                    <a:bodyPr/>
                    <a:p>
                      <a:pPr algn="ctr">
                        <a:buNone/>
                      </a:pPr>
                      <a:r>
                        <a:rPr lang="es-AR" altLang="en-US">
                          <a:solidFill>
                            <a:schemeClr val="tx1"/>
                          </a:solidFill>
                        </a:rPr>
                        <a:t>SPRINT</a:t>
                      </a:r>
                      <a:endParaRPr lang="es-AR" altLang="en-US">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60000"/>
                        <a:lumOff val="40000"/>
                      </a:schemeClr>
                    </a:solidFill>
                  </a:tcPr>
                </a:tc>
              </a:tr>
            </a:tbl>
          </a:graphicData>
        </a:graphic>
      </p:graphicFrame>
      <p:sp>
        <p:nvSpPr>
          <p:cNvPr id="8" name="Right Triangle 7"/>
          <p:cNvSpPr/>
          <p:nvPr/>
        </p:nvSpPr>
        <p:spPr>
          <a:xfrm>
            <a:off x="9126220" y="4629785"/>
            <a:ext cx="2227580" cy="1188720"/>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s-AR" altLang="en-US" sz="1400"/>
              <a:t>Incremento</a:t>
            </a:r>
            <a:endParaRPr lang="es-AR" altLang="en-US" sz="1400"/>
          </a:p>
        </p:txBody>
      </p:sp>
      <p:sp>
        <p:nvSpPr>
          <p:cNvPr id="9" name="Text Box 8"/>
          <p:cNvSpPr txBox="1"/>
          <p:nvPr/>
        </p:nvSpPr>
        <p:spPr>
          <a:xfrm>
            <a:off x="1042035" y="6009640"/>
            <a:ext cx="2498090" cy="368300"/>
          </a:xfrm>
          <a:prstGeom prst="rect">
            <a:avLst/>
          </a:prstGeom>
          <a:noFill/>
        </p:spPr>
        <p:txBody>
          <a:bodyPr wrap="square" rtlCol="0">
            <a:spAutoFit/>
          </a:bodyPr>
          <a:p>
            <a:pPr algn="ctr"/>
            <a:r>
              <a:rPr lang="es-AR" altLang="en-US" b="1"/>
              <a:t>Sprint Backlog</a:t>
            </a:r>
            <a:endParaRPr lang="es-AR" altLang="en-US" b="1"/>
          </a:p>
        </p:txBody>
      </p:sp>
      <p:sp>
        <p:nvSpPr>
          <p:cNvPr id="10" name="Right Arrow 9"/>
          <p:cNvSpPr/>
          <p:nvPr/>
        </p:nvSpPr>
        <p:spPr>
          <a:xfrm>
            <a:off x="3656965" y="5226685"/>
            <a:ext cx="676910" cy="57213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en-US"/>
          </a:p>
        </p:txBody>
      </p:sp>
      <p:sp>
        <p:nvSpPr>
          <p:cNvPr id="11" name="Right Arrow 10"/>
          <p:cNvSpPr/>
          <p:nvPr/>
        </p:nvSpPr>
        <p:spPr>
          <a:xfrm>
            <a:off x="8241665" y="5246370"/>
            <a:ext cx="676910" cy="57213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Ceremonias: Sprint Planning</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p>
            <a:pPr algn="just"/>
            <a:r>
              <a:rPr lang="es-AR" altLang="en-US" sz="2200" b="1"/>
              <a:t>La Sprint Planning es una reunión que se lleva a cabo, para planificar la realización del Sprint. Tiene una duración fija de 8 horas, es gestionada por el Scrum Master. </a:t>
            </a:r>
            <a:endParaRPr lang="es-AR" altLang="en-US" sz="2200"/>
          </a:p>
          <a:p>
            <a:pPr algn="just"/>
            <a:r>
              <a:rPr lang="es-AR" altLang="en-US" sz="2200"/>
              <a:t>Su finalidad es la elaboración de un plan para la implementación de las UH del Sprint Backlog, con colaboración de todos los miembros del equipo. Un requisito previo es que tanto el Product Backlog como el Sprint Backlog se encuentren completos (refinados, priorizados y no haya dudas).</a:t>
            </a:r>
            <a:endParaRPr lang="es-AR" altLang="en-US" sz="2200"/>
          </a:p>
          <a:p>
            <a:pPr algn="just"/>
            <a:r>
              <a:rPr lang="es-AR" altLang="en-US" sz="2200"/>
              <a:t>El Scrum Master se debe asegurar que participen todos los miembros del equipo y que además todos valoren su importancia. Se debe respetar el time box de 8 hs fijado.</a:t>
            </a:r>
            <a:endParaRPr lang="es-AR" altLang="en-US" sz="2200"/>
          </a:p>
          <a:p>
            <a:pPr algn="just"/>
            <a:r>
              <a:rPr lang="es-AR" altLang="en-US" sz="2200"/>
              <a:t>El resultado de esta ceremonia consiste en responder dos preguntas:</a:t>
            </a:r>
            <a:endParaRPr lang="es-AR" altLang="en-US" sz="2200"/>
          </a:p>
          <a:p>
            <a:pPr marL="457200" indent="-457200" algn="just">
              <a:buFont typeface="+mj-lt"/>
              <a:buAutoNum type="alphaLcParenR"/>
            </a:pPr>
            <a:r>
              <a:rPr lang="es-AR" altLang="en-US" sz="2200" b="1"/>
              <a:t>¿Qué tendrá el incremento resultante del Sprint? (Que UH)</a:t>
            </a:r>
            <a:endParaRPr lang="es-AR" altLang="en-US" sz="2200" b="1"/>
          </a:p>
          <a:p>
            <a:pPr marL="457200" indent="-457200" algn="just">
              <a:buFont typeface="+mj-lt"/>
              <a:buAutoNum type="alphaLcParenR"/>
            </a:pPr>
            <a:r>
              <a:rPr lang="es-AR" altLang="en-US" sz="2200" b="1"/>
              <a:t>¿Cómo alinearemos nuestros esfuerzos para alcanzar este objetivo?</a:t>
            </a:r>
            <a:endParaRPr lang="es-AR" altLang="en-US" sz="22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Sprint Planning (Cont.)</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p>
            <a:pPr algn="just"/>
            <a:r>
              <a:rPr lang="es-AR" altLang="en-US" sz="2200"/>
              <a:t>Sólo el equipo en su conjunto, es decir sus miembros, pueden conocer de acuerdo a su experiencia, la capacidad de implementación de las UH que se proponen para el Sprint.</a:t>
            </a:r>
            <a:endParaRPr lang="es-AR" altLang="en-US" sz="2200"/>
          </a:p>
          <a:p>
            <a:pPr algn="just"/>
            <a:r>
              <a:rPr lang="es-AR" altLang="en-US" sz="2200"/>
              <a:t>La</a:t>
            </a:r>
            <a:r>
              <a:rPr lang="es-AR" altLang="en-US" sz="2200" b="1"/>
              <a:t> Entrada del Proceso</a:t>
            </a:r>
            <a:r>
              <a:rPr lang="es-AR" altLang="en-US" sz="2200"/>
              <a:t> de Sprint Planning (o Planning informalmente), es el Product Backlog.</a:t>
            </a:r>
            <a:endParaRPr lang="es-AR" altLang="en-US" sz="2200"/>
          </a:p>
          <a:p>
            <a:pPr algn="just"/>
            <a:r>
              <a:rPr lang="es-AR" altLang="en-US" sz="2200"/>
              <a:t>Su </a:t>
            </a:r>
            <a:r>
              <a:rPr lang="es-AR" altLang="en-US" sz="2200" b="1"/>
              <a:t>Salida</a:t>
            </a:r>
            <a:r>
              <a:rPr lang="es-AR" altLang="en-US" sz="2200"/>
              <a:t> es el Sprint Backlog, con UH estimadas, planificadas, priorizadas y con un nombre de objetivo en particular para el Sprint. Este objetivo debe tener en cuenta los criterios de lo que se conoce como Definition of Done (lo que para el equipo se entiende como terminado).</a:t>
            </a:r>
            <a:endParaRPr lang="es-AR" altLang="en-US" sz="2200"/>
          </a:p>
          <a:p>
            <a:pPr algn="just"/>
            <a:r>
              <a:rPr lang="es-AR" altLang="en-US" sz="2200"/>
              <a:t>En este sentido, sólo el equipo de Scrum sabe cual es la capacidad de lograr para el incremento que se proponen.</a:t>
            </a:r>
            <a:endParaRPr lang="es-AR" altLang="en-US" sz="2200"/>
          </a:p>
          <a:p>
            <a:pPr algn="just"/>
            <a:r>
              <a:rPr lang="es-AR" altLang="en-US" sz="2200"/>
              <a:t>El Product Owner (rol) dispondrá de una posición de consultoría, asesoramiento y evacuación de dudas sobre las UH que participan en este proceso. Él es el representante del cliente para el equipo.</a:t>
            </a:r>
            <a:endParaRPr lang="es-AR" altLang="en-US" sz="22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Sprint Planning (Cont.)</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p>
            <a:pPr algn="just"/>
            <a:r>
              <a:rPr lang="es-AR" altLang="en-US" sz="2200"/>
              <a:t>En caso de ser requerido, en esta reunión el equipo podrá invitar a otros perfiles que puedan colaborar en dudas (por ejemplo técnicas), con el objetivo de obtener lo que se espera de la misma.</a:t>
            </a:r>
            <a:endParaRPr lang="es-AR" altLang="en-US" sz="2200"/>
          </a:p>
          <a:p>
            <a:pPr algn="just"/>
            <a:r>
              <a:rPr lang="es-AR" altLang="en-US" sz="2200" b="1" i="1"/>
              <a:t>Al finalizar la Reunión de Planificación de Sprint, el Equipo de Desarrollo debería ser capaz de explicar al Dueño de Producto y al Scrum Master cómo pretende trabajar como un equipo autoorganizado para lograr el Objetivo del Sprint y crear el Incremento esperado. </a:t>
            </a:r>
            <a:endParaRPr lang="es-AR" altLang="en-US" sz="2200" b="1" i="1"/>
          </a:p>
        </p:txBody>
      </p:sp>
      <p:sp>
        <p:nvSpPr>
          <p:cNvPr id="5" name="Text Box 4"/>
          <p:cNvSpPr txBox="1"/>
          <p:nvPr/>
        </p:nvSpPr>
        <p:spPr>
          <a:xfrm>
            <a:off x="1248410" y="4128135"/>
            <a:ext cx="10114915" cy="2306955"/>
          </a:xfrm>
          <a:prstGeom prst="rect">
            <a:avLst/>
          </a:prstGeom>
          <a:solidFill>
            <a:schemeClr val="accent1">
              <a:lumMod val="75000"/>
            </a:schemeClr>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p>
            <a:r>
              <a:rPr lang="es-AR" altLang="en-US" b="1" u="sng"/>
              <a:t>SPRINT N°1</a:t>
            </a:r>
            <a:r>
              <a:rPr lang="es-AR" altLang="en-US" b="1"/>
              <a:t>: Personalización de apariencia de los personajes</a:t>
            </a:r>
            <a:endParaRPr lang="es-AR" altLang="en-US"/>
          </a:p>
          <a:p>
            <a:r>
              <a:rPr lang="es-AR" altLang="en-US" b="1"/>
              <a:t>Objetivo</a:t>
            </a:r>
            <a:r>
              <a:rPr lang="es-AR" altLang="en-US"/>
              <a:t>: incorporar la personalización de los personajes del videojuego, pudiendo modificar aspecto físico y equipamiento.</a:t>
            </a:r>
            <a:endParaRPr lang="es-AR" altLang="en-US"/>
          </a:p>
          <a:p>
            <a:r>
              <a:rPr lang="es-AR" altLang="en-US" u="sng"/>
              <a:t>Fecha de inicio</a:t>
            </a:r>
            <a:r>
              <a:rPr lang="es-AR" altLang="en-US"/>
              <a:t>: 01/07/2020 - </a:t>
            </a:r>
            <a:r>
              <a:rPr lang="es-AR" altLang="en-US" u="sng"/>
              <a:t>Fecha de Fin</a:t>
            </a:r>
            <a:r>
              <a:rPr lang="es-AR" altLang="en-US"/>
              <a:t>: 31/07/2020. 1 Mes de duración.</a:t>
            </a:r>
            <a:endParaRPr lang="es-AR" altLang="en-US"/>
          </a:p>
          <a:p>
            <a:r>
              <a:rPr lang="es-AR" altLang="en-US" b="1"/>
              <a:t>Historias de Usuario incluidas</a:t>
            </a:r>
            <a:r>
              <a:rPr lang="es-AR" altLang="en-US"/>
              <a:t>:</a:t>
            </a:r>
            <a:endParaRPr lang="es-AR" altLang="en-US"/>
          </a:p>
          <a:p>
            <a:r>
              <a:rPr lang="es-AR" altLang="en-US"/>
              <a:t>- UH 1</a:t>
            </a:r>
            <a:endParaRPr lang="es-AR" altLang="en-US"/>
          </a:p>
          <a:p>
            <a:r>
              <a:rPr lang="es-AR" altLang="en-US"/>
              <a:t>- UH 2</a:t>
            </a:r>
            <a:endParaRPr lang="es-AR" altLang="en-US"/>
          </a:p>
          <a:p>
            <a:r>
              <a:rPr lang="es-AR" altLang="en-US"/>
              <a:t>- UH N</a:t>
            </a:r>
            <a:endParaRPr lang="es-AR"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Ceremonias: Sprint Goal</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p>
            <a:pPr algn="just"/>
            <a:r>
              <a:rPr lang="es-AR" altLang="en-US" sz="2400"/>
              <a:t>El </a:t>
            </a:r>
            <a:r>
              <a:rPr lang="es-AR" altLang="en-US" sz="2400" b="1"/>
              <a:t>Sprint Goal es una definición de la meta a alcanzar con el Sprint</a:t>
            </a:r>
            <a:r>
              <a:rPr lang="es-AR" altLang="en-US" sz="2400"/>
              <a:t>. No es una reunión en si misma, sino una definición conceptual de lo que se desea alcanzar. Refiere al alcance del Incremento que resultará en el Sprint.</a:t>
            </a:r>
            <a:endParaRPr lang="es-AR" altLang="en-US" sz="2400"/>
          </a:p>
          <a:p>
            <a:pPr algn="just"/>
            <a:r>
              <a:rPr lang="es-AR" altLang="en-US" sz="2400"/>
              <a:t>Es importante que los miembros del equipo tengan en mente lo que se obtendrá del Sprint, ya que será su guía durante su implementación.</a:t>
            </a:r>
            <a:endParaRPr lang="es-AR" altLang="en-US" sz="2400"/>
          </a:p>
          <a:p>
            <a:pPr algn="just"/>
            <a:r>
              <a:rPr lang="es-AR" altLang="en-US" sz="2400"/>
              <a:t>Si en algún momento esto varía, entonces el equipo puede trabajar junto con el Product Owner para actualizar el Product Backlog.</a:t>
            </a:r>
            <a:endParaRPr lang="es-AR" altLang="en-US" sz="2400"/>
          </a:p>
        </p:txBody>
      </p:sp>
      <p:pic>
        <p:nvPicPr>
          <p:cNvPr id="5" name="Picture 4" descr="1-dE0ArzTsot1UsliElh9n8Q"/>
          <p:cNvPicPr>
            <a:picLocks noChangeAspect="1"/>
          </p:cNvPicPr>
          <p:nvPr/>
        </p:nvPicPr>
        <p:blipFill>
          <a:blip r:embed="rId2"/>
          <a:stretch>
            <a:fillRect/>
          </a:stretch>
        </p:blipFill>
        <p:spPr>
          <a:xfrm>
            <a:off x="3813175" y="4399280"/>
            <a:ext cx="4390390" cy="214757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Ceremonias: Scrum Daily</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p>
            <a:pPr algn="just"/>
            <a:r>
              <a:rPr lang="es-AR" altLang="en-US" sz="2400"/>
              <a:t>La Scrum Daily Meeting, o más comunmente conocida como “daily” es una reunión que se realiza diariamente por parte del equipo, gestionada por el Scrum Master y tiene como objetivo aportar a la organización diaria de la ejecución del proyecto. </a:t>
            </a:r>
            <a:endParaRPr lang="es-AR" altLang="en-US" sz="2400"/>
          </a:p>
          <a:p>
            <a:pPr algn="just"/>
            <a:r>
              <a:rPr lang="es-AR" altLang="en-US" sz="2400" u="sng"/>
              <a:t>Presenta las siguientes características</a:t>
            </a:r>
            <a:r>
              <a:rPr lang="es-AR" altLang="en-US" sz="2400"/>
              <a:t>:</a:t>
            </a:r>
            <a:endParaRPr lang="es-AR" altLang="en-US" sz="2400"/>
          </a:p>
          <a:p>
            <a:pPr lvl="1" algn="just"/>
            <a:r>
              <a:rPr lang="es-AR" altLang="en-US" sz="2055"/>
              <a:t>Duración máxima total de 15 minutos.</a:t>
            </a:r>
            <a:endParaRPr lang="es-AR" altLang="en-US" sz="2055"/>
          </a:p>
          <a:p>
            <a:pPr lvl="1" algn="just"/>
            <a:r>
              <a:rPr lang="es-AR" altLang="en-US" sz="2055"/>
              <a:t>A realizar diariamente.</a:t>
            </a:r>
            <a:endParaRPr lang="es-AR" altLang="en-US" sz="2055"/>
          </a:p>
          <a:p>
            <a:pPr lvl="1" algn="just"/>
            <a:r>
              <a:rPr lang="es-AR" altLang="en-US" sz="2055"/>
              <a:t>Participan todos los miembros del equipo.</a:t>
            </a:r>
            <a:endParaRPr lang="es-AR" altLang="en-US" sz="2055"/>
          </a:p>
          <a:p>
            <a:pPr lvl="1" algn="just"/>
            <a:r>
              <a:rPr lang="es-AR" altLang="en-US" sz="2055" b="1"/>
              <a:t>El objetivo es que cada uno responda las siguientes preguntas:</a:t>
            </a:r>
            <a:endParaRPr lang="es-AR" altLang="en-US" sz="2055" b="1"/>
          </a:p>
          <a:p>
            <a:pPr marL="1257300" lvl="2" indent="-342900" algn="just">
              <a:buFont typeface="+mj-lt"/>
              <a:buAutoNum type="arabicPeriod"/>
            </a:pPr>
            <a:r>
              <a:rPr lang="es-AR" altLang="en-US" sz="1710" b="1"/>
              <a:t>¿Qué voy a terminar hoy?</a:t>
            </a:r>
            <a:endParaRPr lang="es-AR" altLang="en-US" sz="1710" b="1"/>
          </a:p>
          <a:p>
            <a:pPr marL="1257300" lvl="2" indent="-342900" algn="just">
              <a:buFont typeface="+mj-lt"/>
              <a:buAutoNum type="arabicPeriod"/>
            </a:pPr>
            <a:r>
              <a:rPr lang="es-AR" altLang="en-US" sz="1710" b="1"/>
              <a:t>¿Qué terminé ayer?</a:t>
            </a:r>
            <a:endParaRPr lang="es-AR" altLang="en-US" sz="1710" b="1"/>
          </a:p>
          <a:p>
            <a:pPr marL="1257300" lvl="2" indent="-342900" algn="just">
              <a:buFont typeface="+mj-lt"/>
              <a:buAutoNum type="arabicPeriod"/>
            </a:pPr>
            <a:r>
              <a:rPr lang="es-AR" altLang="en-US" sz="1710" b="1"/>
              <a:t>¿Qué problema se me esta presentando?</a:t>
            </a:r>
            <a:endParaRPr lang="es-AR" altLang="en-US" sz="1710"/>
          </a:p>
          <a:p>
            <a:pPr lvl="0" algn="just"/>
            <a:r>
              <a:rPr lang="es-AR" altLang="en-US" sz="2200"/>
              <a:t>Todo lo que se comente en la Daily debe aportar al objetivo del Sprint (Sprint Goal)</a:t>
            </a:r>
            <a:r>
              <a:rPr lang="es-AR" altLang="en-US" sz="2390"/>
              <a:t>.</a:t>
            </a:r>
            <a:endParaRPr lang="es-AR" altLang="en-US" sz="239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Ceremonias: Scrum Daily (Cont.)</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p>
            <a:pPr algn="just"/>
            <a:r>
              <a:rPr lang="es-AR" altLang="en-US" sz="2390"/>
              <a:t>Con la Sprint Planning, se define e implementa el Sprint Backlog.</a:t>
            </a:r>
            <a:endParaRPr lang="es-AR" altLang="en-US" sz="2390"/>
          </a:p>
          <a:p>
            <a:pPr algn="just"/>
            <a:r>
              <a:rPr lang="es-AR" altLang="en-US" sz="2390"/>
              <a:t>Con el Sprint Goal, el equipo comprende el significado del incremento que va a resultar.</a:t>
            </a:r>
            <a:endParaRPr lang="es-AR" altLang="en-US" sz="2390"/>
          </a:p>
          <a:p>
            <a:pPr algn="just"/>
            <a:r>
              <a:rPr lang="es-AR" altLang="en-US" sz="2390" b="1"/>
              <a:t>Con la Sprint Daily el equipo se sincroniza y valoriza su contribución al objetivo del Sprint.</a:t>
            </a:r>
            <a:endParaRPr lang="es-AR" altLang="en-US" sz="2390" b="1"/>
          </a:p>
        </p:txBody>
      </p:sp>
      <p:pic>
        <p:nvPicPr>
          <p:cNvPr id="5" name="Picture 4" descr="Scrum-Master-1308x765"/>
          <p:cNvPicPr>
            <a:picLocks noChangeAspect="1"/>
          </p:cNvPicPr>
          <p:nvPr/>
        </p:nvPicPr>
        <p:blipFill>
          <a:blip r:embed="rId2"/>
          <a:stretch>
            <a:fillRect/>
          </a:stretch>
        </p:blipFill>
        <p:spPr>
          <a:xfrm>
            <a:off x="3526155" y="3452495"/>
            <a:ext cx="5469255" cy="319849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Ceremonias: Sprint Review</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normAutofit lnSpcReduction="10000"/>
          </a:bodyPr>
          <a:p>
            <a:pPr algn="just"/>
            <a:r>
              <a:rPr lang="es-AR" altLang="en-US"/>
              <a:t>Al finalizar un Sprint, se realiza una revisión para inspeccionar el Incremento, y reajustar el Product Backlog de ser necesario.</a:t>
            </a:r>
            <a:endParaRPr lang="es-AR" altLang="en-US"/>
          </a:p>
          <a:p>
            <a:pPr algn="just"/>
            <a:r>
              <a:rPr lang="es-AR" altLang="en-US"/>
              <a:t>El equipo Scrum realiza esto junto con los Stakeholders. </a:t>
            </a:r>
            <a:endParaRPr lang="es-AR" altLang="en-US"/>
          </a:p>
          <a:p>
            <a:pPr algn="just"/>
            <a:r>
              <a:rPr lang="es-AR" altLang="en-US"/>
              <a:t>Todos los asistentes colaboran para determinar las cosas siguientes que se podrían hacer, para optimizar el Valor.</a:t>
            </a:r>
            <a:endParaRPr lang="es-AR" altLang="en-US"/>
          </a:p>
          <a:p>
            <a:pPr algn="just"/>
            <a:r>
              <a:rPr lang="es-AR" altLang="en-US"/>
              <a:t>Es una reunión informal, pero donde se presenta el Incremento.</a:t>
            </a:r>
            <a:endParaRPr lang="es-AR" altLang="en-US"/>
          </a:p>
          <a:p>
            <a:pPr algn="just"/>
            <a:r>
              <a:rPr lang="es-AR" altLang="en-US"/>
              <a:t>Tiene una duración time-box máxima de 4 horas, para Sprints de 1 mes.</a:t>
            </a:r>
            <a:endParaRPr lang="es-AR" altLang="en-US"/>
          </a:p>
          <a:p>
            <a:pPr algn="just"/>
            <a:r>
              <a:rPr lang="es-AR" altLang="en-US"/>
              <a:t>El resultado es un Product Backlog revisado, con los elementos identificados para ser incluidos en el siguiente Sprint, más ajustes generales.</a:t>
            </a:r>
            <a:endParaRPr lang="es-AR"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Sprint Review (Cont.)</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1"/>
          </p:nvPr>
        </p:nvSpPr>
        <p:spPr>
          <a:xfrm>
            <a:off x="838200" y="1825625"/>
            <a:ext cx="5527675" cy="4351655"/>
          </a:xfrm>
        </p:spPr>
        <p:txBody>
          <a:bodyPr>
            <a:normAutofit/>
          </a:bodyPr>
          <a:p>
            <a:pPr algn="just"/>
            <a:r>
              <a:rPr lang="es-AR" altLang="en-US" sz="2400"/>
              <a:t>El Product Owner invita a los miembros del equipo y a los interesados a la reunión.</a:t>
            </a:r>
            <a:endParaRPr lang="es-AR" altLang="en-US" sz="2400"/>
          </a:p>
          <a:p>
            <a:pPr algn="just"/>
            <a:r>
              <a:rPr lang="es-AR" altLang="en-US" sz="2400"/>
              <a:t>Se explica los elementos que se terminaron y los que no se han terminado, y su por qué.</a:t>
            </a:r>
            <a:endParaRPr lang="es-AR" altLang="en-US" sz="2400"/>
          </a:p>
          <a:p>
            <a:pPr algn="just"/>
            <a:r>
              <a:rPr lang="es-AR" altLang="en-US" sz="2400"/>
              <a:t>Se habla sobre lo que fue bien, los problemas que se presentaron y como se sortearon.</a:t>
            </a:r>
            <a:endParaRPr lang="es-AR" altLang="en-US" sz="2400"/>
          </a:p>
          <a:p>
            <a:pPr algn="just"/>
            <a:r>
              <a:rPr lang="es-AR" altLang="en-US" sz="2400"/>
              <a:t>Se responden preguntas y el PO proyecta próximos pasos.</a:t>
            </a:r>
            <a:endParaRPr lang="es-AR" altLang="en-US" sz="2400"/>
          </a:p>
        </p:txBody>
      </p:sp>
      <p:pic>
        <p:nvPicPr>
          <p:cNvPr id="5" name="Content Placeholder 4" descr="4649618f03-9781f5c052f9ff786865"/>
          <p:cNvPicPr>
            <a:picLocks noChangeAspect="1"/>
          </p:cNvPicPr>
          <p:nvPr>
            <p:ph sz="half" idx="2"/>
          </p:nvPr>
        </p:nvPicPr>
        <p:blipFill>
          <a:blip r:embed="rId2"/>
          <a:stretch>
            <a:fillRect/>
          </a:stretch>
        </p:blipFill>
        <p:spPr>
          <a:xfrm>
            <a:off x="7162800" y="1916430"/>
            <a:ext cx="4191000" cy="36195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Ceremonias: Sprint Retrospective</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normAutofit fontScale="90000"/>
          </a:bodyPr>
          <a:p>
            <a:pPr algn="just"/>
            <a:r>
              <a:rPr lang="es-AR" altLang="en-US" sz="2400"/>
              <a:t>El objetivo es hacer una retrospectiva (mirar hacia adentro) y trabajar en un plan de mejoras para ser abordadas durante el siguiente Sprint. Se realiza a continuación de la revisión del Sprint y antes de la siguiente Planning.</a:t>
            </a:r>
            <a:endParaRPr lang="es-AR" altLang="en-US" sz="2400"/>
          </a:p>
          <a:p>
            <a:pPr algn="just"/>
            <a:r>
              <a:rPr lang="es-AR" altLang="en-US" sz="2400"/>
              <a:t>Tiene una duración de 3 horas para Sprints de un mes.</a:t>
            </a:r>
            <a:endParaRPr lang="es-AR" altLang="en-US" sz="2400"/>
          </a:p>
          <a:p>
            <a:pPr algn="just"/>
            <a:r>
              <a:rPr lang="es-AR" altLang="en-US" sz="2400"/>
              <a:t>Todos los miembros participan, y el Scrum Master es responsable de llevar adelante el proceso.</a:t>
            </a:r>
            <a:endParaRPr lang="es-AR" altLang="en-US" sz="2400"/>
          </a:p>
          <a:p>
            <a:pPr algn="just"/>
            <a:r>
              <a:rPr lang="es-AR" altLang="en-US" sz="2400" b="1"/>
              <a:t>En esta reunión se trabaja</a:t>
            </a:r>
            <a:r>
              <a:rPr lang="es-AR" altLang="en-US" sz="2400"/>
              <a:t>:</a:t>
            </a:r>
            <a:endParaRPr lang="es-AR" altLang="en-US"/>
          </a:p>
          <a:p>
            <a:pPr lvl="1" algn="just"/>
            <a:r>
              <a:rPr lang="es-AR" altLang="en-US"/>
              <a:t>Como fue el último Sprint respecto al equipo, procesos y herramientas;</a:t>
            </a:r>
            <a:endParaRPr lang="es-AR" altLang="en-US"/>
          </a:p>
          <a:p>
            <a:pPr lvl="1" algn="just"/>
            <a:r>
              <a:rPr lang="es-AR" altLang="en-US"/>
              <a:t>Elementos del Product Backlog que se trabajaron bien y las mejoras por realizar;</a:t>
            </a:r>
            <a:endParaRPr lang="es-AR" altLang="en-US"/>
          </a:p>
          <a:p>
            <a:pPr lvl="1" algn="just"/>
            <a:r>
              <a:rPr lang="es-AR" altLang="en-US"/>
              <a:t>Elaboración de un plan para implementar las mejoras que el equipo ID en su trabajo.</a:t>
            </a:r>
            <a:endParaRPr lang="es-AR" altLang="en-US"/>
          </a:p>
          <a:p>
            <a:pPr lvl="1" algn="just"/>
            <a:r>
              <a:rPr lang="es-AR" altLang="en-US"/>
              <a:t>Adicionalmente, se puede llegar a readaptar la Definition of Done para mejorar la calidad del trabajo.</a:t>
            </a:r>
            <a:endParaRPr lang="es-AR"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Ceremonias: Sprint Retrospective</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pic>
        <p:nvPicPr>
          <p:cNvPr id="6" name="Content Placeholder 5"/>
          <p:cNvPicPr>
            <a:picLocks noChangeAspect="1"/>
          </p:cNvPicPr>
          <p:nvPr>
            <p:ph idx="1"/>
          </p:nvPr>
        </p:nvPicPr>
        <p:blipFill>
          <a:blip r:embed="rId2"/>
          <a:stretch>
            <a:fillRect/>
          </a:stretch>
        </p:blipFill>
        <p:spPr>
          <a:xfrm>
            <a:off x="2051685" y="1584325"/>
            <a:ext cx="8087995" cy="464947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Ceremonias (Fin)</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pic>
        <p:nvPicPr>
          <p:cNvPr id="6" name="Content Placeholder 5" descr="654651"/>
          <p:cNvPicPr>
            <a:picLocks noChangeAspect="1"/>
          </p:cNvPicPr>
          <p:nvPr>
            <p:ph idx="1"/>
          </p:nvPr>
        </p:nvPicPr>
        <p:blipFill>
          <a:blip r:embed="rId2"/>
          <a:stretch>
            <a:fillRect/>
          </a:stretch>
        </p:blipFill>
        <p:spPr>
          <a:xfrm>
            <a:off x="2164080" y="1691005"/>
            <a:ext cx="7637145" cy="4414520"/>
          </a:xfrm>
          <a:prstGeom prst="rect">
            <a:avLst/>
          </a:prstGeom>
        </p:spPr>
      </p:pic>
      <p:sp>
        <p:nvSpPr>
          <p:cNvPr id="8" name="Rectangle 7"/>
          <p:cNvSpPr/>
          <p:nvPr/>
        </p:nvSpPr>
        <p:spPr>
          <a:xfrm>
            <a:off x="5494655" y="2035175"/>
            <a:ext cx="918210" cy="82867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endParaRPr lang="en-US"/>
          </a:p>
        </p:txBody>
      </p:sp>
      <p:sp>
        <p:nvSpPr>
          <p:cNvPr id="9" name="Rectangle 8"/>
          <p:cNvSpPr/>
          <p:nvPr/>
        </p:nvSpPr>
        <p:spPr>
          <a:xfrm>
            <a:off x="4846320" y="3683635"/>
            <a:ext cx="767715" cy="100838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endParaRPr lang="en-US"/>
          </a:p>
        </p:txBody>
      </p:sp>
      <p:sp>
        <p:nvSpPr>
          <p:cNvPr id="10" name="Rectangle 9"/>
          <p:cNvSpPr/>
          <p:nvPr/>
        </p:nvSpPr>
        <p:spPr>
          <a:xfrm>
            <a:off x="4055110" y="3367405"/>
            <a:ext cx="918210" cy="82867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endParaRPr lang="en-US"/>
          </a:p>
        </p:txBody>
      </p:sp>
      <p:sp>
        <p:nvSpPr>
          <p:cNvPr id="11" name="Rectangle 10"/>
          <p:cNvSpPr/>
          <p:nvPr/>
        </p:nvSpPr>
        <p:spPr>
          <a:xfrm>
            <a:off x="7647305" y="3090545"/>
            <a:ext cx="1098550" cy="94869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Conceptos Clave -&gt; Roles de Equipo</a:t>
            </a:r>
            <a:endParaRPr lang="es-AR" altLang="en-US"/>
          </a:p>
        </p:txBody>
      </p:sp>
      <p:pic>
        <p:nvPicPr>
          <p:cNvPr id="6" name="Content Placeholder 5" descr="UCP_Icon"/>
          <p:cNvPicPr>
            <a:picLocks noChangeAspect="1"/>
          </p:cNvPicPr>
          <p:nvPr>
            <p:ph sz="half" idx="2"/>
          </p:nvPr>
        </p:nvPicPr>
        <p:blipFill>
          <a:blip r:embed="rId1"/>
          <a:stretch>
            <a:fillRect/>
          </a:stretch>
        </p:blipFill>
        <p:spPr>
          <a:xfrm>
            <a:off x="10826750" y="177800"/>
            <a:ext cx="1075055" cy="1075055"/>
          </a:xfrm>
          <a:prstGeom prst="rect">
            <a:avLst/>
          </a:prstGeom>
        </p:spPr>
      </p:pic>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2676525"/>
          </a:xfrm>
          <a:prstGeom prst="rect">
            <a:avLst/>
          </a:prstGeom>
          <a:noFill/>
        </p:spPr>
        <p:txBody>
          <a:bodyPr wrap="square" rtlCol="0">
            <a:spAutoFit/>
          </a:bodyPr>
          <a:p>
            <a:pPr algn="just"/>
            <a:r>
              <a:rPr lang="es-AR" altLang="en-US" sz="2400"/>
              <a:t>Los conceptos clave que debemos comprender, para aplicar la metodología en los proyectos son los siguientes:</a:t>
            </a:r>
            <a:endParaRPr lang="es-AR" altLang="en-US" sz="2400"/>
          </a:p>
          <a:p>
            <a:pPr marL="342900" indent="-342900" algn="just">
              <a:buFont typeface="Arial" panose="020B0604020202020204" pitchFamily="34" charset="0"/>
              <a:buChar char="•"/>
            </a:pPr>
            <a:r>
              <a:rPr lang="es-AR" altLang="en-US" sz="2400" b="1"/>
              <a:t>Principios (mencionados en slides anteriores).</a:t>
            </a:r>
            <a:endParaRPr lang="es-AR" altLang="en-US" sz="2400" b="1"/>
          </a:p>
          <a:p>
            <a:pPr marL="342900" indent="-342900" algn="just">
              <a:buFont typeface="Arial" panose="020B0604020202020204" pitchFamily="34" charset="0"/>
              <a:buChar char="•"/>
            </a:pPr>
            <a:r>
              <a:rPr lang="es-AR" altLang="en-US" sz="2400" b="1"/>
              <a:t>Artefactos de Scrum.</a:t>
            </a:r>
            <a:endParaRPr lang="es-AR" altLang="en-US" sz="2400" b="1"/>
          </a:p>
          <a:p>
            <a:pPr marL="342900" indent="-342900" algn="just">
              <a:buFont typeface="Arial" panose="020B0604020202020204" pitchFamily="34" charset="0"/>
              <a:buChar char="•"/>
            </a:pPr>
            <a:r>
              <a:rPr lang="es-AR" altLang="en-US" sz="2400" b="1"/>
              <a:t>Eventos o Ceremonias de Scrum.</a:t>
            </a:r>
            <a:endParaRPr lang="es-AR" altLang="en-US" sz="2400" b="1"/>
          </a:p>
          <a:p>
            <a:pPr marL="342900" indent="-342900" algn="just">
              <a:buFont typeface="Arial" panose="020B0604020202020204" pitchFamily="34" charset="0"/>
              <a:buChar char="•"/>
            </a:pPr>
            <a:r>
              <a:rPr lang="es-AR" altLang="en-US" sz="2400" b="1"/>
              <a:t>Equipo Scrum.</a:t>
            </a:r>
            <a:endParaRPr lang="es-AR" altLang="en-US" sz="2400"/>
          </a:p>
          <a:p>
            <a:pPr algn="just"/>
            <a:endParaRPr lang="es-AR" altLang="en-US" sz="2400"/>
          </a:p>
        </p:txBody>
      </p:sp>
      <p:graphicFrame>
        <p:nvGraphicFramePr>
          <p:cNvPr id="5" name="Table 4"/>
          <p:cNvGraphicFramePr/>
          <p:nvPr/>
        </p:nvGraphicFramePr>
        <p:xfrm>
          <a:off x="965200" y="4260850"/>
          <a:ext cx="2301875" cy="2313305"/>
        </p:xfrm>
        <a:graphic>
          <a:graphicData uri="http://schemas.openxmlformats.org/drawingml/2006/table">
            <a:tbl>
              <a:tblPr firstRow="1" bandRow="1">
                <a:tableStyleId>{5C22544A-7EE6-4342-B048-85BDC9FD1C3A}</a:tableStyleId>
              </a:tblPr>
              <a:tblGrid>
                <a:gridCol w="2301875"/>
              </a:tblGrid>
              <a:tr h="615950">
                <a:tc>
                  <a:txBody>
                    <a:bodyPr/>
                    <a:p>
                      <a:pPr algn="ctr">
                        <a:buNone/>
                      </a:pPr>
                      <a:r>
                        <a:rPr lang="es-AR" altLang="en-US"/>
                        <a:t>Principios</a:t>
                      </a:r>
                      <a:endParaRPr lang="es-AR" altLang="en-US"/>
                    </a:p>
                  </a:txBody>
                  <a:tcPr/>
                </a:tc>
              </a:tr>
              <a:tr h="1697355">
                <a:tc>
                  <a:txBody>
                    <a:bodyPr/>
                    <a:p>
                      <a:pPr marL="285750" indent="-285750">
                        <a:buFont typeface="Arial" panose="020B0604020202020204" pitchFamily="34" charset="0"/>
                        <a:buChar char="•"/>
                      </a:pPr>
                      <a:r>
                        <a:rPr lang="es-AR" altLang="en-US"/>
                        <a:t>Transparencia.</a:t>
                      </a:r>
                      <a:endParaRPr lang="es-AR" altLang="en-US"/>
                    </a:p>
                    <a:p>
                      <a:pPr marL="285750" indent="-285750">
                        <a:buFont typeface="Arial" panose="020B0604020202020204" pitchFamily="34" charset="0"/>
                        <a:buChar char="•"/>
                      </a:pPr>
                      <a:r>
                        <a:rPr lang="es-AR" altLang="en-US"/>
                        <a:t>Inspección.</a:t>
                      </a:r>
                      <a:endParaRPr lang="es-AR" altLang="en-US"/>
                    </a:p>
                    <a:p>
                      <a:pPr marL="285750" indent="-285750">
                        <a:buFont typeface="Arial" panose="020B0604020202020204" pitchFamily="34" charset="0"/>
                        <a:buChar char="•"/>
                      </a:pPr>
                      <a:r>
                        <a:rPr lang="es-AR" altLang="en-US"/>
                        <a:t>Adaptación.</a:t>
                      </a:r>
                      <a:endParaRPr lang="es-AR" altLang="en-US"/>
                    </a:p>
                  </a:txBody>
                  <a:tcPr/>
                </a:tc>
              </a:tr>
            </a:tbl>
          </a:graphicData>
        </a:graphic>
      </p:graphicFrame>
      <p:graphicFrame>
        <p:nvGraphicFramePr>
          <p:cNvPr id="8" name="Table 7"/>
          <p:cNvGraphicFramePr/>
          <p:nvPr/>
        </p:nvGraphicFramePr>
        <p:xfrm>
          <a:off x="3862070" y="4260850"/>
          <a:ext cx="2301875" cy="2312035"/>
        </p:xfrm>
        <a:graphic>
          <a:graphicData uri="http://schemas.openxmlformats.org/drawingml/2006/table">
            <a:tbl>
              <a:tblPr firstRow="1" bandRow="1">
                <a:tableStyleId>{5C22544A-7EE6-4342-B048-85BDC9FD1C3A}</a:tableStyleId>
              </a:tblPr>
              <a:tblGrid>
                <a:gridCol w="2301875"/>
              </a:tblGrid>
              <a:tr h="649605">
                <a:tc>
                  <a:txBody>
                    <a:bodyPr/>
                    <a:p>
                      <a:pPr algn="ctr">
                        <a:buNone/>
                      </a:pPr>
                      <a:r>
                        <a:rPr lang="es-AR" altLang="en-US"/>
                        <a:t>Artefactos</a:t>
                      </a:r>
                      <a:endParaRPr lang="es-AR" altLang="en-US"/>
                    </a:p>
                  </a:txBody>
                  <a:tcPr>
                    <a:solidFill>
                      <a:schemeClr val="accent1"/>
                    </a:solidFill>
                  </a:tcPr>
                </a:tc>
              </a:tr>
              <a:tr h="1662430">
                <a:tc>
                  <a:txBody>
                    <a:bodyPr/>
                    <a:p>
                      <a:pPr marL="285750" indent="-285750">
                        <a:buFont typeface="Arial" panose="020B0604020202020204" pitchFamily="34" charset="0"/>
                        <a:buChar char="•"/>
                      </a:pPr>
                      <a:r>
                        <a:rPr lang="es-AR" altLang="en-US" sz="1800">
                          <a:sym typeface="+mn-ea"/>
                        </a:rPr>
                        <a:t>User Story.</a:t>
                      </a:r>
                      <a:endParaRPr lang="es-AR" altLang="en-US"/>
                    </a:p>
                    <a:p>
                      <a:pPr marL="285750" indent="-285750">
                        <a:buFont typeface="Arial" panose="020B0604020202020204" pitchFamily="34" charset="0"/>
                        <a:buChar char="•"/>
                      </a:pPr>
                      <a:r>
                        <a:rPr lang="es-AR" altLang="en-US"/>
                        <a:t>Product Backlog.</a:t>
                      </a:r>
                      <a:endParaRPr lang="es-AR" altLang="en-US"/>
                    </a:p>
                    <a:p>
                      <a:pPr marL="285750" indent="-285750">
                        <a:buFont typeface="Arial" panose="020B0604020202020204" pitchFamily="34" charset="0"/>
                        <a:buChar char="•"/>
                      </a:pPr>
                      <a:r>
                        <a:rPr lang="es-AR" altLang="en-US"/>
                        <a:t>Sprint Backlog.</a:t>
                      </a:r>
                      <a:endParaRPr lang="es-AR" altLang="en-US"/>
                    </a:p>
                    <a:p>
                      <a:pPr marL="285750" indent="-285750">
                        <a:buFont typeface="Arial" panose="020B0604020202020204" pitchFamily="34" charset="0"/>
                        <a:buChar char="•"/>
                      </a:pPr>
                      <a:r>
                        <a:rPr lang="es-AR" altLang="en-US"/>
                        <a:t>Incremento.</a:t>
                      </a:r>
                      <a:endParaRPr lang="es-AR" altLang="en-US"/>
                    </a:p>
                    <a:p>
                      <a:pPr marL="285750" indent="-285750">
                        <a:buFont typeface="Arial" panose="020B0604020202020204" pitchFamily="34" charset="0"/>
                        <a:buChar char="•"/>
                      </a:pPr>
                      <a:r>
                        <a:rPr lang="es-AR" altLang="en-US"/>
                        <a:t>Boards (opcionales).</a:t>
                      </a:r>
                      <a:endParaRPr lang="es-AR" altLang="en-US"/>
                    </a:p>
                  </a:txBody>
                  <a:tcPr>
                    <a:solidFill>
                      <a:schemeClr val="accent1">
                        <a:lumMod val="20000"/>
                        <a:lumOff val="80000"/>
                      </a:schemeClr>
                    </a:solidFill>
                  </a:tcPr>
                </a:tc>
              </a:tr>
            </a:tbl>
          </a:graphicData>
        </a:graphic>
      </p:graphicFrame>
      <p:graphicFrame>
        <p:nvGraphicFramePr>
          <p:cNvPr id="9" name="Table 8"/>
          <p:cNvGraphicFramePr/>
          <p:nvPr/>
        </p:nvGraphicFramePr>
        <p:xfrm>
          <a:off x="6480810" y="4260850"/>
          <a:ext cx="2459355" cy="2312670"/>
        </p:xfrm>
        <a:graphic>
          <a:graphicData uri="http://schemas.openxmlformats.org/drawingml/2006/table">
            <a:tbl>
              <a:tblPr firstRow="1" bandRow="1">
                <a:tableStyleId>{5C22544A-7EE6-4342-B048-85BDC9FD1C3A}</a:tableStyleId>
              </a:tblPr>
              <a:tblGrid>
                <a:gridCol w="2459355"/>
              </a:tblGrid>
              <a:tr h="734060">
                <a:tc>
                  <a:txBody>
                    <a:bodyPr/>
                    <a:p>
                      <a:pPr algn="ctr">
                        <a:buNone/>
                      </a:pPr>
                      <a:r>
                        <a:rPr lang="es-AR" altLang="en-US"/>
                        <a:t>Ceremonias</a:t>
                      </a:r>
                      <a:endParaRPr lang="es-AR" altLang="en-US"/>
                    </a:p>
                  </a:txBody>
                  <a:tcPr>
                    <a:solidFill>
                      <a:schemeClr val="accent1"/>
                    </a:solidFill>
                  </a:tcPr>
                </a:tc>
              </a:tr>
              <a:tr h="1578610">
                <a:tc>
                  <a:txBody>
                    <a:bodyPr/>
                    <a:p>
                      <a:pPr marL="285750" indent="-285750">
                        <a:buFont typeface="Arial" panose="020B0604020202020204" pitchFamily="34" charset="0"/>
                        <a:buChar char="•"/>
                      </a:pPr>
                      <a:r>
                        <a:rPr lang="es-AR" altLang="en-US"/>
                        <a:t>Sprint.</a:t>
                      </a:r>
                      <a:endParaRPr lang="es-AR" altLang="en-US"/>
                    </a:p>
                    <a:p>
                      <a:pPr marL="285750" indent="-285750">
                        <a:buFont typeface="Arial" panose="020B0604020202020204" pitchFamily="34" charset="0"/>
                        <a:buChar char="•"/>
                      </a:pPr>
                      <a:r>
                        <a:rPr lang="es-AR" altLang="en-US"/>
                        <a:t>Sprint Planning.</a:t>
                      </a:r>
                      <a:endParaRPr lang="es-AR" altLang="en-US"/>
                    </a:p>
                    <a:p>
                      <a:pPr marL="285750" indent="-285750">
                        <a:buFont typeface="Arial" panose="020B0604020202020204" pitchFamily="34" charset="0"/>
                        <a:buChar char="•"/>
                      </a:pPr>
                      <a:r>
                        <a:rPr lang="es-AR" altLang="en-US"/>
                        <a:t>Sprint Goal.</a:t>
                      </a:r>
                      <a:endParaRPr lang="es-AR" altLang="en-US"/>
                    </a:p>
                    <a:p>
                      <a:pPr marL="285750" indent="-285750">
                        <a:buFont typeface="Arial" panose="020B0604020202020204" pitchFamily="34" charset="0"/>
                        <a:buChar char="•"/>
                      </a:pPr>
                      <a:r>
                        <a:rPr lang="es-AR" altLang="en-US"/>
                        <a:t>Scrum Daily.</a:t>
                      </a:r>
                      <a:endParaRPr lang="es-AR" altLang="en-US"/>
                    </a:p>
                    <a:p>
                      <a:pPr marL="285750" indent="-285750">
                        <a:buFont typeface="Arial" panose="020B0604020202020204" pitchFamily="34" charset="0"/>
                        <a:buChar char="•"/>
                      </a:pPr>
                      <a:r>
                        <a:rPr lang="es-AR" altLang="en-US"/>
                        <a:t>Sprint Review.</a:t>
                      </a:r>
                      <a:endParaRPr lang="es-AR" altLang="en-US"/>
                    </a:p>
                    <a:p>
                      <a:pPr marL="285750" indent="-285750">
                        <a:buFont typeface="Arial" panose="020B0604020202020204" pitchFamily="34" charset="0"/>
                        <a:buChar char="•"/>
                      </a:pPr>
                      <a:r>
                        <a:rPr lang="es-AR" altLang="en-US"/>
                        <a:t>Sprint Retrospective.</a:t>
                      </a:r>
                      <a:endParaRPr lang="es-AR" altLang="en-US"/>
                    </a:p>
                  </a:txBody>
                  <a:tcPr>
                    <a:solidFill>
                      <a:schemeClr val="accent1">
                        <a:lumMod val="20000"/>
                        <a:lumOff val="80000"/>
                      </a:schemeClr>
                    </a:solidFill>
                  </a:tcPr>
                </a:tc>
              </a:tr>
            </a:tbl>
          </a:graphicData>
        </a:graphic>
      </p:graphicFrame>
      <p:graphicFrame>
        <p:nvGraphicFramePr>
          <p:cNvPr id="10" name="Table 9"/>
          <p:cNvGraphicFramePr/>
          <p:nvPr/>
        </p:nvGraphicFramePr>
        <p:xfrm>
          <a:off x="9257030" y="4260850"/>
          <a:ext cx="2301875" cy="2312035"/>
        </p:xfrm>
        <a:graphic>
          <a:graphicData uri="http://schemas.openxmlformats.org/drawingml/2006/table">
            <a:tbl>
              <a:tblPr firstRow="1" bandRow="1">
                <a:tableStyleId>{5C22544A-7EE6-4342-B048-85BDC9FD1C3A}</a:tableStyleId>
              </a:tblPr>
              <a:tblGrid>
                <a:gridCol w="2301875"/>
              </a:tblGrid>
              <a:tr h="777875">
                <a:tc>
                  <a:txBody>
                    <a:bodyPr/>
                    <a:p>
                      <a:pPr algn="ctr">
                        <a:buNone/>
                      </a:pPr>
                      <a:r>
                        <a:rPr lang="es-AR" altLang="en-US"/>
                        <a:t>Equipo SCRUM</a:t>
                      </a:r>
                      <a:endParaRPr lang="es-AR" altLang="en-US"/>
                    </a:p>
                  </a:txBody>
                  <a:tcPr>
                    <a:solidFill>
                      <a:schemeClr val="tx1"/>
                    </a:solidFill>
                  </a:tcPr>
                </a:tc>
              </a:tr>
              <a:tr h="1534160">
                <a:tc>
                  <a:txBody>
                    <a:bodyPr/>
                    <a:p>
                      <a:pPr marL="285750" indent="-285750">
                        <a:buFont typeface="Arial" panose="020B0604020202020204" pitchFamily="34" charset="0"/>
                        <a:buChar char="•"/>
                      </a:pPr>
                      <a:r>
                        <a:rPr lang="es-AR" altLang="en-US"/>
                        <a:t>Product Owner.</a:t>
                      </a:r>
                      <a:endParaRPr lang="es-AR" altLang="en-US"/>
                    </a:p>
                    <a:p>
                      <a:pPr marL="285750" indent="-285750">
                        <a:buFont typeface="Arial" panose="020B0604020202020204" pitchFamily="34" charset="0"/>
                        <a:buChar char="•"/>
                      </a:pPr>
                      <a:r>
                        <a:rPr lang="es-AR" altLang="en-US"/>
                        <a:t>Scrum Master.</a:t>
                      </a:r>
                      <a:endParaRPr lang="es-AR" altLang="en-US"/>
                    </a:p>
                    <a:p>
                      <a:pPr marL="285750" indent="-285750">
                        <a:buFont typeface="Arial" panose="020B0604020202020204" pitchFamily="34" charset="0"/>
                        <a:buChar char="•"/>
                      </a:pPr>
                      <a:r>
                        <a:rPr lang="es-AR" altLang="en-US"/>
                        <a:t>Team.</a:t>
                      </a:r>
                      <a:endParaRPr lang="es-AR" altLang="en-US"/>
                    </a:p>
                  </a:txBody>
                  <a:tcPr>
                    <a:solidFill>
                      <a:schemeClr val="bg2"/>
                    </a:solidFill>
                  </a:tcPr>
                </a:tc>
              </a:tr>
            </a:tbl>
          </a:graphicData>
        </a:graphic>
      </p:graphicFrame>
      <p:sp>
        <p:nvSpPr>
          <p:cNvPr id="3" name="Rectangle 2"/>
          <p:cNvSpPr/>
          <p:nvPr/>
        </p:nvSpPr>
        <p:spPr>
          <a:xfrm>
            <a:off x="9030335" y="4067810"/>
            <a:ext cx="2739390" cy="2739390"/>
          </a:xfrm>
          <a:prstGeom prst="rect">
            <a:avLst/>
          </a:prstGeom>
          <a:noFill/>
          <a:ln w="412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Roles de Equipo</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1"/>
          </p:nvPr>
        </p:nvSpPr>
        <p:spPr/>
        <p:txBody>
          <a:bodyPr/>
          <a:p>
            <a:r>
              <a:rPr lang="es-AR" altLang="en-US" sz="2400"/>
              <a:t>Scrum propone los siguientes roles para los integrantes del equipo, los cuales trabajan bajo el marco que establece el framework, para generar los incrementos que agregan valor al producto.</a:t>
            </a:r>
            <a:endParaRPr lang="es-AR" altLang="en-US" sz="2400"/>
          </a:p>
          <a:p>
            <a:r>
              <a:rPr lang="es-AR" altLang="en-US" sz="2400"/>
              <a:t>Los equipos Scrum presentan dos características de suma importancia:</a:t>
            </a:r>
            <a:endParaRPr lang="es-AR" altLang="en-US" sz="2400"/>
          </a:p>
          <a:p>
            <a:pPr lvl="1"/>
            <a:r>
              <a:rPr lang="es-AR" altLang="en-US" sz="2000" b="1"/>
              <a:t>Son Autoorganizados</a:t>
            </a:r>
            <a:endParaRPr lang="es-AR" altLang="en-US" sz="2000" b="1"/>
          </a:p>
          <a:p>
            <a:pPr lvl="1"/>
            <a:r>
              <a:rPr lang="es-AR" altLang="en-US" sz="2000" b="1"/>
              <a:t>Son Multifuncionales</a:t>
            </a:r>
            <a:endParaRPr lang="es-AR" altLang="en-US" sz="2000" b="1"/>
          </a:p>
          <a:p>
            <a:pPr lvl="0"/>
            <a:r>
              <a:rPr lang="es-AR" altLang="en-US" sz="2330"/>
              <a:t>Se recomienda no más de 7 miembros ni menos de 3, por equipo.</a:t>
            </a:r>
            <a:endParaRPr lang="es-AR" altLang="en-US" sz="2330"/>
          </a:p>
        </p:txBody>
      </p:sp>
      <p:graphicFrame>
        <p:nvGraphicFramePr>
          <p:cNvPr id="5" name="Content Placeholder 4"/>
          <p:cNvGraphicFramePr/>
          <p:nvPr>
            <p:ph sz="half" idx="2"/>
          </p:nvPr>
        </p:nvGraphicFramePr>
        <p:xfrm>
          <a:off x="6654483" y="1762919"/>
          <a:ext cx="4518025" cy="4146550"/>
        </p:xfrm>
        <a:graphic>
          <a:graphicData uri="http://schemas.openxmlformats.org/presentationml/2006/ole">
            <mc:AlternateContent xmlns:mc="http://schemas.openxmlformats.org/markup-compatibility/2006">
              <mc:Choice xmlns:v="urn:schemas-microsoft-com:vml" Requires="v">
                <p:oleObj spid="_x0000_s6" name="" r:id="rId2" imgW="4514850" imgH="4143375" progId="Paint.Picture">
                  <p:embed/>
                </p:oleObj>
              </mc:Choice>
              <mc:Fallback>
                <p:oleObj name="" r:id="rId2" imgW="4514850" imgH="4143375" progId="Paint.Picture">
                  <p:embed/>
                  <p:pic>
                    <p:nvPicPr>
                      <p:cNvPr id="0" name="Picture 5"/>
                      <p:cNvPicPr/>
                      <p:nvPr/>
                    </p:nvPicPr>
                    <p:blipFill>
                      <a:blip r:embed="rId3"/>
                      <a:stretch>
                        <a:fillRect/>
                      </a:stretch>
                    </p:blipFill>
                    <p:spPr>
                      <a:xfrm>
                        <a:off x="6654483" y="1762919"/>
                        <a:ext cx="4518025" cy="4146550"/>
                      </a:xfrm>
                      <a:prstGeom prst="rect">
                        <a:avLst/>
                      </a:prstGeom>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Roles de Equipo (Cont.)</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2"/>
          </p:nvPr>
        </p:nvSpPr>
        <p:spPr>
          <a:xfrm>
            <a:off x="965200" y="1584960"/>
            <a:ext cx="10594340" cy="4727575"/>
          </a:xfrm>
        </p:spPr>
        <p:txBody>
          <a:bodyPr/>
          <a:p>
            <a:pPr algn="just"/>
            <a:r>
              <a:rPr lang="es-AR" altLang="en-US"/>
              <a:t>Por </a:t>
            </a:r>
            <a:r>
              <a:rPr lang="es-AR" altLang="en-US" b="1"/>
              <a:t>Equipos Autoorganizados</a:t>
            </a:r>
            <a:r>
              <a:rPr lang="es-AR" altLang="en-US"/>
              <a:t>, se entiende al hecho de que los equipos en su conjunto determinan la mejor manera de organizarse, para llevar adelante su trabajo del mejor modo, sin que externos se lo indiquen.</a:t>
            </a:r>
            <a:endParaRPr lang="es-AR" altLang="en-US"/>
          </a:p>
          <a:p>
            <a:pPr algn="just"/>
            <a:r>
              <a:rPr lang="es-AR" altLang="en-US"/>
              <a:t>Por </a:t>
            </a:r>
            <a:r>
              <a:rPr lang="es-AR" altLang="en-US" b="1"/>
              <a:t>Equipos Multifuncionales</a:t>
            </a:r>
            <a:r>
              <a:rPr lang="es-AR" altLang="en-US"/>
              <a:t>, se refiere a que el conjunto de competencias que posee el equipo les permite llevar adelante su trabajo, sin depender de otros externos.</a:t>
            </a:r>
            <a:endParaRPr lang="es-AR" altLang="en-US"/>
          </a:p>
          <a:p>
            <a:pPr algn="just"/>
            <a:endParaRPr lang="es-AR" altLang="en-US"/>
          </a:p>
          <a:p>
            <a:pPr algn="just"/>
            <a:r>
              <a:rPr lang="es-AR" altLang="en-US"/>
              <a:t>Estas dos características, más el hecho de que el equipo esté </a:t>
            </a:r>
            <a:r>
              <a:rPr lang="es-AR" altLang="en-US" u="sng"/>
              <a:t>Maduro Técnicamente</a:t>
            </a:r>
            <a:r>
              <a:rPr lang="es-AR" altLang="en-US"/>
              <a:t>, son las que promueven el éxito de implementar Scrum.</a:t>
            </a:r>
            <a:endParaRPr lang="es-AR"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Roles: Product Owner (PO)</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1"/>
          </p:nvPr>
        </p:nvSpPr>
        <p:spPr>
          <a:xfrm>
            <a:off x="838200" y="1825625"/>
            <a:ext cx="7183120" cy="4351655"/>
          </a:xfrm>
        </p:spPr>
        <p:txBody>
          <a:bodyPr/>
          <a:p>
            <a:r>
              <a:rPr lang="es-AR" altLang="en-US"/>
              <a:t>Responsable de lograr agregar Valor al producto.</a:t>
            </a:r>
            <a:endParaRPr lang="es-AR" altLang="en-US"/>
          </a:p>
          <a:p>
            <a:r>
              <a:rPr lang="es-AR" altLang="en-US"/>
              <a:t>Gestiona el Product Backlog.</a:t>
            </a:r>
            <a:endParaRPr lang="es-AR" altLang="en-US"/>
          </a:p>
          <a:p>
            <a:r>
              <a:rPr lang="es-AR" altLang="en-US"/>
              <a:t>Debe propiciar el agregado de valor, ordenar y mantener visible el Product Backlog para todos los miembros del equipo.</a:t>
            </a:r>
            <a:endParaRPr lang="es-AR" altLang="en-US"/>
          </a:p>
          <a:p>
            <a:r>
              <a:rPr lang="es-AR" altLang="en-US"/>
              <a:t>Es quien explica al equipo cada elemento del PB. </a:t>
            </a:r>
            <a:endParaRPr lang="es-AR" altLang="en-US"/>
          </a:p>
          <a:p>
            <a:r>
              <a:rPr lang="es-AR" altLang="en-US"/>
              <a:t>Sus decisiones y definiciones son vinculantes.</a:t>
            </a:r>
            <a:endParaRPr lang="es-AR" altLang="en-US"/>
          </a:p>
        </p:txBody>
      </p:sp>
      <p:graphicFrame>
        <p:nvGraphicFramePr>
          <p:cNvPr id="5" name="Content Placeholder 4"/>
          <p:cNvGraphicFramePr/>
          <p:nvPr>
            <p:ph sz="half" idx="2"/>
          </p:nvPr>
        </p:nvGraphicFramePr>
        <p:xfrm>
          <a:off x="8583295" y="1584325"/>
          <a:ext cx="2770505" cy="2475865"/>
        </p:xfrm>
        <a:graphic>
          <a:graphicData uri="http://schemas.openxmlformats.org/presentationml/2006/ole">
            <mc:AlternateContent xmlns:mc="http://schemas.openxmlformats.org/markup-compatibility/2006">
              <mc:Choice xmlns:v="urn:schemas-microsoft-com:vml" Requires="v">
                <p:oleObj spid="_x0000_s6" name="" r:id="rId2" imgW="2286000" imgH="1962150" progId="Paint.Picture">
                  <p:embed/>
                </p:oleObj>
              </mc:Choice>
              <mc:Fallback>
                <p:oleObj name="" r:id="rId2" imgW="2286000" imgH="1962150" progId="Paint.Picture">
                  <p:embed/>
                  <p:pic>
                    <p:nvPicPr>
                      <p:cNvPr id="0" name="Picture 5"/>
                      <p:cNvPicPr/>
                      <p:nvPr/>
                    </p:nvPicPr>
                    <p:blipFill>
                      <a:blip r:embed="rId3"/>
                      <a:stretch>
                        <a:fillRect/>
                      </a:stretch>
                    </p:blipFill>
                    <p:spPr>
                      <a:xfrm>
                        <a:off x="8583295" y="1584325"/>
                        <a:ext cx="2770505" cy="2475865"/>
                      </a:xfrm>
                      <a:prstGeom prst="rect">
                        <a:avLst/>
                      </a:prstGeom>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Roles: Team o Development Team</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1"/>
          </p:nvPr>
        </p:nvSpPr>
        <p:spPr>
          <a:xfrm>
            <a:off x="838200" y="1825625"/>
            <a:ext cx="7273925" cy="4351655"/>
          </a:xfrm>
        </p:spPr>
        <p:txBody>
          <a:bodyPr/>
          <a:p>
            <a:r>
              <a:rPr lang="es-AR" altLang="en-US"/>
              <a:t>Son los profesionales que trabajan para generar los incrementos del producto.</a:t>
            </a:r>
            <a:endParaRPr lang="es-AR" altLang="en-US"/>
          </a:p>
          <a:p>
            <a:r>
              <a:rPr lang="es-AR" altLang="en-US"/>
              <a:t>Autoorganizados y multifuncionales.</a:t>
            </a:r>
            <a:endParaRPr lang="es-AR" altLang="en-US"/>
          </a:p>
          <a:p>
            <a:r>
              <a:rPr lang="es-AR" altLang="en-US"/>
              <a:t>No reconoce títulos ni puestos (son todos desarrolladores).</a:t>
            </a:r>
            <a:endParaRPr lang="es-AR" altLang="en-US"/>
          </a:p>
          <a:p>
            <a:r>
              <a:rPr lang="es-AR" altLang="en-US"/>
              <a:t>Se los ve como un todo.</a:t>
            </a:r>
            <a:endParaRPr lang="es-AR" altLang="en-US"/>
          </a:p>
        </p:txBody>
      </p:sp>
      <p:graphicFrame>
        <p:nvGraphicFramePr>
          <p:cNvPr id="9" name="Content Placeholder 8"/>
          <p:cNvGraphicFramePr/>
          <p:nvPr>
            <p:ph sz="half" idx="2"/>
          </p:nvPr>
        </p:nvGraphicFramePr>
        <p:xfrm>
          <a:off x="8731250" y="1660525"/>
          <a:ext cx="2827655" cy="2463800"/>
        </p:xfrm>
        <a:graphic>
          <a:graphicData uri="http://schemas.openxmlformats.org/presentationml/2006/ole">
            <mc:AlternateContent xmlns:mc="http://schemas.openxmlformats.org/markup-compatibility/2006">
              <mc:Choice xmlns:v="urn:schemas-microsoft-com:vml" Requires="v">
                <p:oleObj spid="_x0000_s10" name="" r:id="rId2" imgW="2028825" imgH="1981200" progId="Paint.Picture">
                  <p:embed/>
                </p:oleObj>
              </mc:Choice>
              <mc:Fallback>
                <p:oleObj name="" r:id="rId2" imgW="2028825" imgH="1981200" progId="Paint.Picture">
                  <p:embed/>
                  <p:pic>
                    <p:nvPicPr>
                      <p:cNvPr id="0" name="Picture 9"/>
                      <p:cNvPicPr/>
                      <p:nvPr/>
                    </p:nvPicPr>
                    <p:blipFill>
                      <a:blip r:embed="rId3"/>
                      <a:stretch>
                        <a:fillRect/>
                      </a:stretch>
                    </p:blipFill>
                    <p:spPr>
                      <a:xfrm>
                        <a:off x="8731250" y="1660525"/>
                        <a:ext cx="2827655" cy="2463800"/>
                      </a:xfrm>
                      <a:prstGeom prst="rect">
                        <a:avLst/>
                      </a:prstGeom>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Roles: Scrum Master</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3" name="Content Placeholder 2"/>
          <p:cNvSpPr/>
          <p:nvPr>
            <p:ph sz="half" idx="1"/>
          </p:nvPr>
        </p:nvSpPr>
        <p:spPr>
          <a:xfrm>
            <a:off x="838200" y="1825625"/>
            <a:ext cx="7799705" cy="4351655"/>
          </a:xfrm>
        </p:spPr>
        <p:txBody>
          <a:bodyPr/>
          <a:p>
            <a:r>
              <a:rPr lang="es-AR" altLang="en-US"/>
              <a:t>Es el responsable de velar por la aplicación del proceso de Scrum.</a:t>
            </a:r>
            <a:endParaRPr lang="es-AR" altLang="en-US"/>
          </a:p>
          <a:p>
            <a:r>
              <a:rPr lang="es-AR" altLang="en-US"/>
              <a:t>Aplica la teoría, práctica y reglas de Scrum.</a:t>
            </a:r>
            <a:endParaRPr lang="es-AR" altLang="en-US"/>
          </a:p>
          <a:p>
            <a:r>
              <a:rPr lang="es-AR" altLang="en-US"/>
              <a:t>Dirige las ceremonias y diferentes actividades del proceso.</a:t>
            </a:r>
            <a:endParaRPr lang="es-AR" altLang="en-US"/>
          </a:p>
          <a:p>
            <a:r>
              <a:rPr lang="es-AR" altLang="en-US"/>
              <a:t>Es un líder al servicio del equipo y al diseño del producto.</a:t>
            </a:r>
            <a:endParaRPr lang="es-AR" altLang="en-US"/>
          </a:p>
        </p:txBody>
      </p:sp>
      <p:graphicFrame>
        <p:nvGraphicFramePr>
          <p:cNvPr id="6" name="Content Placeholder 5"/>
          <p:cNvGraphicFramePr/>
          <p:nvPr>
            <p:ph sz="half" idx="2"/>
          </p:nvPr>
        </p:nvGraphicFramePr>
        <p:xfrm>
          <a:off x="8825865" y="1825625"/>
          <a:ext cx="2733040" cy="2240280"/>
        </p:xfrm>
        <a:graphic>
          <a:graphicData uri="http://schemas.openxmlformats.org/presentationml/2006/ole">
            <mc:AlternateContent xmlns:mc="http://schemas.openxmlformats.org/markup-compatibility/2006">
              <mc:Choice xmlns:v="urn:schemas-microsoft-com:vml" Requires="v">
                <p:oleObj spid="_x0000_s8" name="" r:id="rId2" imgW="2190750" imgH="1952625" progId="Paint.Picture">
                  <p:embed/>
                </p:oleObj>
              </mc:Choice>
              <mc:Fallback>
                <p:oleObj name="" r:id="rId2" imgW="2190750" imgH="1952625" progId="Paint.Picture">
                  <p:embed/>
                  <p:pic>
                    <p:nvPicPr>
                      <p:cNvPr id="0" name="Picture 7"/>
                      <p:cNvPicPr/>
                      <p:nvPr/>
                    </p:nvPicPr>
                    <p:blipFill>
                      <a:blip r:embed="rId3"/>
                      <a:stretch>
                        <a:fillRect/>
                      </a:stretch>
                    </p:blipFill>
                    <p:spPr>
                      <a:xfrm>
                        <a:off x="8825865" y="1825625"/>
                        <a:ext cx="2733040" cy="2240280"/>
                      </a:xfrm>
                      <a:prstGeom prst="rect">
                        <a:avLst/>
                      </a:prstGeom>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Extra: Herramientas TIC</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9" name="Content Placeholder 8"/>
          <p:cNvSpPr/>
          <p:nvPr>
            <p:ph sz="half" idx="1"/>
          </p:nvPr>
        </p:nvSpPr>
        <p:spPr>
          <a:xfrm>
            <a:off x="838200" y="1825625"/>
            <a:ext cx="10885170" cy="4351655"/>
          </a:xfrm>
        </p:spPr>
        <p:txBody>
          <a:bodyPr/>
          <a:p>
            <a:r>
              <a:rPr lang="es-AR" altLang="en-US" sz="2400">
                <a:solidFill>
                  <a:schemeClr val="tx1"/>
                </a:solidFill>
              </a:rPr>
              <a:t>Existen diferentes maneras de implementar en la práctica los artefactos de Scrum. Cada equipo determina el como. </a:t>
            </a:r>
            <a:endParaRPr lang="es-AR" altLang="en-US" sz="2400">
              <a:solidFill>
                <a:schemeClr val="tx1"/>
              </a:solidFill>
            </a:endParaRPr>
          </a:p>
          <a:p>
            <a:r>
              <a:rPr lang="es-AR" altLang="en-US" sz="2400">
                <a:solidFill>
                  <a:schemeClr val="tx1"/>
                </a:solidFill>
              </a:rPr>
              <a:t>Se presenta a continuación algunas aplicaciones que se pueden utilizar para ello.</a:t>
            </a:r>
            <a:endParaRPr lang="es-AR" altLang="en-US" sz="2400">
              <a:solidFill>
                <a:schemeClr val="tx1"/>
              </a:solidFill>
            </a:endParaRPr>
          </a:p>
        </p:txBody>
      </p:sp>
      <p:pic>
        <p:nvPicPr>
          <p:cNvPr id="10" name="Picture 9" descr="Jira Software-blue">
            <a:hlinkClick r:id="rId2" action="ppaction://hlinkfil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8110" y="3926205"/>
            <a:ext cx="3702685" cy="481965"/>
          </a:xfrm>
          <a:prstGeom prst="rect">
            <a:avLst/>
          </a:prstGeom>
        </p:spPr>
      </p:pic>
      <p:pic>
        <p:nvPicPr>
          <p:cNvPr id="11" name="Picture 10">
            <a:hlinkClick r:id="rId5" action="ppaction://hlinkfile"/>
          </p:cNvPr>
          <p:cNvPicPr>
            <a:picLocks noChangeAspect="1"/>
          </p:cNvPicPr>
          <p:nvPr/>
        </p:nvPicPr>
        <p:blipFill>
          <a:blip r:embed="rId6"/>
          <a:stretch>
            <a:fillRect/>
          </a:stretch>
        </p:blipFill>
        <p:spPr>
          <a:xfrm>
            <a:off x="1846580" y="4751705"/>
            <a:ext cx="1734185" cy="1734185"/>
          </a:xfrm>
          <a:prstGeom prst="rect">
            <a:avLst/>
          </a:prstGeom>
        </p:spPr>
      </p:pic>
      <p:pic>
        <p:nvPicPr>
          <p:cNvPr id="13" name="Picture 12" descr="Confluence-blue">
            <a:hlinkClick r:id="rId7" action="ppaction://hlinkfile"/>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20130" y="3926205"/>
            <a:ext cx="3097530" cy="388620"/>
          </a:xfrm>
          <a:prstGeom prst="rect">
            <a:avLst/>
          </a:prstGeom>
        </p:spPr>
      </p:pic>
      <p:pic>
        <p:nvPicPr>
          <p:cNvPr id="14" name="Picture 13"/>
          <p:cNvPicPr>
            <a:picLocks noChangeAspect="1"/>
          </p:cNvPicPr>
          <p:nvPr/>
        </p:nvPicPr>
        <p:blipFill>
          <a:blip r:embed="rId10"/>
          <a:stretch>
            <a:fillRect/>
          </a:stretch>
        </p:blipFill>
        <p:spPr>
          <a:xfrm>
            <a:off x="4431030" y="4751705"/>
            <a:ext cx="1895475" cy="1647825"/>
          </a:xfrm>
          <a:prstGeom prst="rect">
            <a:avLst/>
          </a:prstGeom>
        </p:spPr>
      </p:pic>
      <p:pic>
        <p:nvPicPr>
          <p:cNvPr id="15" name="Picture 14"/>
          <p:cNvPicPr>
            <a:picLocks noChangeAspect="1"/>
          </p:cNvPicPr>
          <p:nvPr/>
        </p:nvPicPr>
        <p:blipFill>
          <a:blip r:embed="rId11"/>
          <a:stretch>
            <a:fillRect/>
          </a:stretch>
        </p:blipFill>
        <p:spPr>
          <a:xfrm>
            <a:off x="6853555" y="4751705"/>
            <a:ext cx="2762250" cy="1657350"/>
          </a:xfrm>
          <a:prstGeom prst="rect">
            <a:avLst/>
          </a:prstGeom>
        </p:spPr>
      </p:pic>
      <p:pic>
        <p:nvPicPr>
          <p:cNvPr id="16" name="Picture 15"/>
          <p:cNvPicPr>
            <a:picLocks noChangeAspect="1"/>
          </p:cNvPicPr>
          <p:nvPr/>
        </p:nvPicPr>
        <p:blipFill>
          <a:blip r:embed="rId12"/>
          <a:stretch>
            <a:fillRect/>
          </a:stretch>
        </p:blipFill>
        <p:spPr>
          <a:xfrm>
            <a:off x="9888220" y="4555490"/>
            <a:ext cx="1834515" cy="102743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p>
            <a:r>
              <a:rPr lang="es-AR" altLang="en-US"/>
              <a:t>Scrum - Extra: Técnicas de Estimación</a:t>
            </a:r>
            <a:endParaRPr lang="es-AR" altLang="en-US"/>
          </a:p>
        </p:txBody>
      </p:sp>
      <p:sp>
        <p:nvSpPr>
          <p:cNvPr id="7" name="Content Placeholder 2"/>
          <p:cNvSpPr>
            <a:spLocks noGrp="1"/>
          </p:cNvSpPr>
          <p:nvPr/>
        </p:nvSpPr>
        <p:spPr>
          <a:xfrm>
            <a:off x="965200" y="1660525"/>
            <a:ext cx="107575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AR" altLang="en-US" sz="2400"/>
          </a:p>
          <a:p>
            <a:pPr algn="just"/>
            <a:endParaRPr lang="es-AR" altLang="en-US" sz="2400"/>
          </a:p>
          <a:p>
            <a:pPr algn="just"/>
            <a:endParaRPr lang="es-AR" altLang="en-US" sz="2400"/>
          </a:p>
          <a:p>
            <a:pPr algn="just"/>
            <a:endParaRPr lang="es-AR" altLang="en-US" sz="2400"/>
          </a:p>
          <a:p>
            <a:pPr algn="just"/>
            <a:endParaRPr lang="es-AR" altLang="en-US" sz="2400"/>
          </a:p>
        </p:txBody>
      </p:sp>
      <p:sp>
        <p:nvSpPr>
          <p:cNvPr id="2" name="Text Box 1"/>
          <p:cNvSpPr txBox="1"/>
          <p:nvPr/>
        </p:nvSpPr>
        <p:spPr>
          <a:xfrm>
            <a:off x="962660" y="1584325"/>
            <a:ext cx="10596245" cy="829945"/>
          </a:xfrm>
          <a:prstGeom prst="rect">
            <a:avLst/>
          </a:prstGeom>
          <a:noFill/>
        </p:spPr>
        <p:txBody>
          <a:bodyPr wrap="square" rtlCol="0">
            <a:spAutoFit/>
          </a:bodyPr>
          <a:p>
            <a:pPr algn="just"/>
            <a:endParaRPr lang="es-AR" altLang="en-US" sz="2400"/>
          </a:p>
          <a:p>
            <a:pPr algn="just"/>
            <a:endParaRPr lang="es-AR" altLang="en-US" sz="2400"/>
          </a:p>
        </p:txBody>
      </p:sp>
      <p:pic>
        <p:nvPicPr>
          <p:cNvPr id="12" name="Content Placeholder 5" descr="UCP_Icon"/>
          <p:cNvPicPr>
            <a:picLocks noChangeAspect="1"/>
          </p:cNvPicPr>
          <p:nvPr/>
        </p:nvPicPr>
        <p:blipFill>
          <a:blip r:embed="rId1"/>
          <a:stretch>
            <a:fillRect/>
          </a:stretch>
        </p:blipFill>
        <p:spPr>
          <a:xfrm>
            <a:off x="10826750" y="177800"/>
            <a:ext cx="1075055" cy="1075055"/>
          </a:xfrm>
          <a:prstGeom prst="rect">
            <a:avLst/>
          </a:prstGeom>
        </p:spPr>
      </p:pic>
      <p:sp>
        <p:nvSpPr>
          <p:cNvPr id="9" name="Content Placeholder 8"/>
          <p:cNvSpPr/>
          <p:nvPr>
            <p:ph sz="half" idx="1"/>
          </p:nvPr>
        </p:nvSpPr>
        <p:spPr>
          <a:xfrm>
            <a:off x="838200" y="1825625"/>
            <a:ext cx="10885170" cy="4351655"/>
          </a:xfrm>
        </p:spPr>
        <p:txBody>
          <a:bodyPr/>
          <a:p>
            <a:r>
              <a:rPr lang="es-AR" altLang="en-US">
                <a:solidFill>
                  <a:schemeClr val="tx1"/>
                </a:solidFill>
              </a:rPr>
              <a:t>El objetivo de las técnicas es ayudarnos a dimensionar esfuerzo y complejidad del desarrollo de las UH.</a:t>
            </a:r>
            <a:endParaRPr lang="es-AR" altLang="en-US">
              <a:solidFill>
                <a:schemeClr val="tx1"/>
              </a:solidFill>
            </a:endParaRPr>
          </a:p>
          <a:p>
            <a:r>
              <a:rPr lang="es-AR" altLang="en-US">
                <a:solidFill>
                  <a:schemeClr val="tx1"/>
                </a:solidFill>
              </a:rPr>
              <a:t>Existen sucesivas técnicas, 3 de las más conocidas son:</a:t>
            </a:r>
            <a:endParaRPr lang="es-AR" altLang="en-US">
              <a:solidFill>
                <a:schemeClr val="tx1"/>
              </a:solidFill>
            </a:endParaRPr>
          </a:p>
          <a:p>
            <a:pPr lvl="1"/>
            <a:r>
              <a:rPr lang="es-AR" altLang="en-US" b="1">
                <a:solidFill>
                  <a:schemeClr val="tx1"/>
                </a:solidFill>
              </a:rPr>
              <a:t>En base a la experiencia “a ojo”.</a:t>
            </a:r>
            <a:endParaRPr lang="es-AR" altLang="en-US" b="1">
              <a:solidFill>
                <a:schemeClr val="tx1"/>
              </a:solidFill>
            </a:endParaRPr>
          </a:p>
          <a:p>
            <a:pPr lvl="1"/>
            <a:r>
              <a:rPr lang="es-AR" altLang="en-US" b="1">
                <a:solidFill>
                  <a:schemeClr val="tx1"/>
                </a:solidFill>
              </a:rPr>
              <a:t>Cálculos en base a Story Points.</a:t>
            </a:r>
            <a:endParaRPr lang="es-AR" altLang="en-US" b="1">
              <a:solidFill>
                <a:schemeClr val="tx1"/>
              </a:solidFill>
            </a:endParaRPr>
          </a:p>
          <a:p>
            <a:pPr lvl="1"/>
            <a:r>
              <a:rPr lang="es-AR" altLang="en-US" b="1">
                <a:solidFill>
                  <a:schemeClr val="tx1"/>
                </a:solidFill>
              </a:rPr>
              <a:t>Poker Planning.</a:t>
            </a:r>
            <a:endParaRPr lang="es-AR" altLang="en-US" b="1">
              <a:solidFill>
                <a:schemeClr val="tx1"/>
              </a:solidFill>
            </a:endParaRPr>
          </a:p>
        </p:txBody>
      </p:sp>
      <p:pic>
        <p:nvPicPr>
          <p:cNvPr id="3" name="Picture 2" descr="1-gLQmGOlYKR9pL1b-MBW3-g"/>
          <p:cNvPicPr>
            <a:picLocks noChangeAspect="1"/>
          </p:cNvPicPr>
          <p:nvPr/>
        </p:nvPicPr>
        <p:blipFill>
          <a:blip r:embed="rId2"/>
          <a:stretch>
            <a:fillRect/>
          </a:stretch>
        </p:blipFill>
        <p:spPr>
          <a:xfrm>
            <a:off x="7090410" y="3315335"/>
            <a:ext cx="4263390" cy="3177540"/>
          </a:xfrm>
          <a:prstGeom prst="rect">
            <a:avLst/>
          </a:prstGeom>
        </p:spPr>
      </p:pic>
      <p:pic>
        <p:nvPicPr>
          <p:cNvPr id="5" name="Picture 4" descr="350px-Poker_fibonacci"/>
          <p:cNvPicPr>
            <a:picLocks noChangeAspect="1"/>
          </p:cNvPicPr>
          <p:nvPr/>
        </p:nvPicPr>
        <p:blipFill>
          <a:blip r:embed="rId3"/>
          <a:stretch>
            <a:fillRect/>
          </a:stretch>
        </p:blipFill>
        <p:spPr>
          <a:xfrm>
            <a:off x="2261235" y="4538345"/>
            <a:ext cx="4025265" cy="20701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s-AR" altLang="en-US" sz="3600" b="1"/>
              <a:t>¿Preguntas?</a:t>
            </a:r>
            <a:endParaRPr lang="es-AR" altLang="en-US" sz="3600" b="1"/>
          </a:p>
        </p:txBody>
      </p:sp>
      <p:sp>
        <p:nvSpPr>
          <p:cNvPr id="3" name="Content Placeholder 2"/>
          <p:cNvSpPr>
            <a:spLocks noGrp="1"/>
          </p:cNvSpPr>
          <p:nvPr>
            <p:ph sz="half" idx="1"/>
          </p:nvPr>
        </p:nvSpPr>
        <p:spPr>
          <a:xfrm>
            <a:off x="838200" y="1825625"/>
            <a:ext cx="10757535" cy="4351655"/>
          </a:xfrm>
        </p:spPr>
        <p:txBody>
          <a:bodyPr>
            <a:normAutofit/>
          </a:bodyPr>
          <a:p>
            <a:pPr marL="0" indent="0" algn="just">
              <a:lnSpc>
                <a:spcPct val="100000"/>
              </a:lnSpc>
              <a:buNone/>
            </a:pPr>
            <a:r>
              <a:rPr lang="es-AR" altLang="en-US" sz="3200" b="1">
                <a:effectLst/>
              </a:rPr>
              <a:t>Hasta la clase que viene! :-)</a:t>
            </a:r>
            <a:endParaRPr lang="es-AR" altLang="en-US" sz="3200" b="1">
              <a:effectLst/>
            </a:endParaRPr>
          </a:p>
        </p:txBody>
      </p:sp>
      <p:pic>
        <p:nvPicPr>
          <p:cNvPr id="4" name="Content Placeholder 3" descr="UCP_Icon"/>
          <p:cNvPicPr>
            <a:picLocks noChangeAspect="1"/>
          </p:cNvPicPr>
          <p:nvPr>
            <p:ph sz="half" idx="2"/>
          </p:nvPr>
        </p:nvPicPr>
        <p:blipFill>
          <a:blip r:embed="rId1"/>
          <a:stretch>
            <a:fillRect/>
          </a:stretch>
        </p:blipFill>
        <p:spPr>
          <a:xfrm>
            <a:off x="10826750" y="177800"/>
            <a:ext cx="1075055" cy="1075055"/>
          </a:xfrm>
          <a:prstGeom prst="rect">
            <a:avLst/>
          </a:prstGeom>
        </p:spPr>
      </p:pic>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21561</Words>
  <Application>WPS Presentation</Application>
  <PresentationFormat>Widescreen</PresentationFormat>
  <Paragraphs>930</Paragraphs>
  <Slides>56</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56</vt:i4>
      </vt:variant>
    </vt:vector>
  </HeadingPairs>
  <TitlesOfParts>
    <vt:vector size="71" baseType="lpstr">
      <vt:lpstr>Arial</vt:lpstr>
      <vt:lpstr>SimSun</vt:lpstr>
      <vt:lpstr>Wingdings</vt:lpstr>
      <vt:lpstr>Calibri Light</vt:lpstr>
      <vt:lpstr>Calibri</vt:lpstr>
      <vt:lpstr>Microsoft YaHei</vt:lpstr>
      <vt:lpstr/>
      <vt:lpstr>Arial Unicode MS</vt:lpstr>
      <vt:lpstr>Liberation Mono</vt:lpstr>
      <vt:lpstr>Wingdings</vt:lpstr>
      <vt:lpstr>Office Theme</vt:lpstr>
      <vt:lpstr>Paint.Picture</vt:lpstr>
      <vt:lpstr>Paint.Picture</vt:lpstr>
      <vt:lpstr>Paint.Picture</vt:lpstr>
      <vt:lpstr>Paint.Picture</vt:lpstr>
      <vt:lpstr>Universidad de la Cuenca del Plata</vt:lpstr>
      <vt:lpstr>Clase 11/09</vt:lpstr>
      <vt:lpstr>PowerPoint 演示文稿</vt:lpstr>
      <vt:lpstr>PowerPoint 演示文稿</vt:lpstr>
      <vt:lpstr>Sector Academia y Mercado Laboral en el NEA </vt:lpstr>
      <vt:lpstr>Ingeniería de Requerimientos de SI </vt:lpstr>
      <vt:lpstr>Ingeniería de Requerimientos de SI (Cont.)</vt:lpstr>
      <vt:lpstr>Ingeniería de Requerimientos de SI (Cont.)</vt:lpstr>
      <vt:lpstr>Ingeniería de Requerimientos de SI (Cont.)</vt:lpstr>
      <vt:lpstr>Ingeniería de Requerimientos de SI (Cont.)</vt:lpstr>
      <vt:lpstr>Tipos de Requisitos</vt:lpstr>
      <vt:lpstr>Proceso de Elicitación de Requerimientos</vt:lpstr>
      <vt:lpstr>Proceso de Elicitación de Requerimientos</vt:lpstr>
      <vt:lpstr>PowerPoint 演示文稿</vt:lpstr>
      <vt:lpstr>SCRUM</vt:lpstr>
      <vt:lpstr>Scrum</vt:lpstr>
      <vt:lpstr>Scrum (Cont.)</vt:lpstr>
      <vt:lpstr>Scrum (Cont.)</vt:lpstr>
      <vt:lpstr>Scrum - Conceptos Clave</vt:lpstr>
      <vt:lpstr>Scrum - Conceptos Clave -&gt; Artefactos</vt:lpstr>
      <vt:lpstr>Scrum - Artefactos: User Story</vt:lpstr>
      <vt:lpstr>Scrum - Artefactos: User Story (Cont.)</vt:lpstr>
      <vt:lpstr>Scrum - Artefactos: User Story (Cont.)</vt:lpstr>
      <vt:lpstr>Scrum - Artefactos: User Story (Cont.)</vt:lpstr>
      <vt:lpstr>Scrum - Artefactos: Product Backlog</vt:lpstr>
      <vt:lpstr>Scrum - Artefactos: Product Backlog (Cont.)</vt:lpstr>
      <vt:lpstr>Scrum - Artefactos: Sprint Backlog</vt:lpstr>
      <vt:lpstr>Scrum - Artefactos: Sprint Backlog (Cont.)</vt:lpstr>
      <vt:lpstr>Scrum - Artefactos: Sprint Backlog (Cont.)</vt:lpstr>
      <vt:lpstr>Scrum - Artefactos: Sprint Backlog (Cont.)</vt:lpstr>
      <vt:lpstr>Scrum - Artefactos: Incremento</vt:lpstr>
      <vt:lpstr>Scrum - Artefactos: Incremento</vt:lpstr>
      <vt:lpstr>Scrum: Artefactos + Proceso</vt:lpstr>
      <vt:lpstr>Scrum - Conceptos Clave -&gt; Ceremonias</vt:lpstr>
      <vt:lpstr>Scrum: Ceremonias</vt:lpstr>
      <vt:lpstr>Scrum - Ceremonias: Sprint</vt:lpstr>
      <vt:lpstr>Scrum - Ceremonias: Sprint Planning</vt:lpstr>
      <vt:lpstr>Scrum - Sprint Planning (Cont.)</vt:lpstr>
      <vt:lpstr>Scrum - Sprint Planning (Cont.)</vt:lpstr>
      <vt:lpstr>Scrum - Ceremonias: Sprint Goal</vt:lpstr>
      <vt:lpstr>Scrum - Ceremonias: Scrum Daily</vt:lpstr>
      <vt:lpstr>Scrum - Ceremonias: Scrum Daily (Cont.)</vt:lpstr>
      <vt:lpstr>Scrum - Ceremonias: Sprint Review</vt:lpstr>
      <vt:lpstr>Scrum - Sprint Review (Cont.)</vt:lpstr>
      <vt:lpstr>Scrum - Ceremonias: Sprint Retrospective</vt:lpstr>
      <vt:lpstr>Scrum - Ceremonias: Sprint Retrospective</vt:lpstr>
      <vt:lpstr>Scrum - Ceremonias (Fin)</vt:lpstr>
      <vt:lpstr>Scrum - Conceptos Clave -&gt; Roles de Equipo</vt:lpstr>
      <vt:lpstr>Scrum: Roles de Equipo</vt:lpstr>
      <vt:lpstr>Scrum: Roles de Equipo (Cont.)</vt:lpstr>
      <vt:lpstr>Scrum - Roles: Product Owner (PO)</vt:lpstr>
      <vt:lpstr>Scrum - Roles: Team o Development Team</vt:lpstr>
      <vt:lpstr>Scrum - Roles: Scrum Master</vt:lpstr>
      <vt:lpstr>Scrum - Extra: Herramientas TIC</vt:lpstr>
      <vt:lpstr>Scrum - Extra: Técnicas de Estimación</vt:lpstr>
      <vt:lpstr>¿Preguntas?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de la Cuenca del Plata</dc:title>
  <dc:creator/>
  <cp:lastModifiedBy>fabm_</cp:lastModifiedBy>
  <cp:revision>74</cp:revision>
  <dcterms:created xsi:type="dcterms:W3CDTF">2020-02-12T22:10:00Z</dcterms:created>
  <dcterms:modified xsi:type="dcterms:W3CDTF">2020-09-16T22:51:05Z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1033-11.2.0.8339</vt:lpwstr>
  </property>
</Properties>
</file>